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98" r:id="rId5"/>
    <p:sldId id="283" r:id="rId6"/>
    <p:sldId id="297" r:id="rId7"/>
    <p:sldId id="292" r:id="rId8"/>
    <p:sldId id="293" r:id="rId9"/>
    <p:sldId id="284" r:id="rId10"/>
    <p:sldId id="309" r:id="rId11"/>
    <p:sldId id="310" r:id="rId12"/>
    <p:sldId id="311" r:id="rId13"/>
    <p:sldId id="312" r:id="rId14"/>
    <p:sldId id="313" r:id="rId15"/>
    <p:sldId id="320" r:id="rId16"/>
    <p:sldId id="315" r:id="rId17"/>
    <p:sldId id="316" r:id="rId18"/>
    <p:sldId id="319" r:id="rId19"/>
    <p:sldId id="318" r:id="rId20"/>
    <p:sldId id="296" r:id="rId21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C9A20E-D2DC-4BDD-8B34-08A9890E9FEB}" v="31" dt="2025-11-11T16:56:21.385"/>
  </p1510:revLst>
</p1510:revInfo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574" autoAdjust="0"/>
  </p:normalViewPr>
  <p:slideViewPr>
    <p:cSldViewPr snapToGrid="0">
      <p:cViewPr varScale="1">
        <p:scale>
          <a:sx n="82" d="100"/>
          <a:sy n="82" d="100"/>
        </p:scale>
        <p:origin x="710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0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0C787AE-A2C6-4A28-BCC7-4D89EB21DEE5}" type="datetime1">
              <a:rPr lang="es-ES" smtClean="0"/>
              <a:t>11/11/2025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BDA65D4-3BBC-4853-83D3-F449A9B7FDA5}" type="datetime1">
              <a:rPr lang="es-ES" noProof="0" smtClean="0"/>
              <a:t>11/11/2025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701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06624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6282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05243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5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50067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07180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F37AC-BE3B-8210-989E-C2282C6D2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7B1071-F131-EEA3-16D1-1917F2A17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E084525-631D-1693-3C4B-520FF1167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934CC0-CE59-1CC3-50B7-B13A213857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8413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0B11A-A0EC-5CB3-D78A-7468F3312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29EA14E-6E1E-0089-F196-C6AD71A63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B4CB70D-6C0C-A4A7-628F-5F75F9C1B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4F717C-5A2E-46FA-A63D-987DBF53A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858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033A8-AFAF-CA43-FD9D-07D9948BB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30E9AAA-A85B-E95D-A836-5E7B2AD83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0298C3E-6B42-DF03-55A9-FC966552A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C38B22-824C-3D1B-8899-438C2CD599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3829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5584F-C1AC-C9F3-92FC-B87270475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B03DEDC-1904-AE58-4C71-9BCE12C88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A376BE-90CB-FED2-B3A6-BDC45F99B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1AF344-9D6F-4A09-7FF1-513C6C55C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8031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67F99-50DD-B89C-FDFA-1EC2FA24D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E7418C3-8DDD-BAAE-4FA1-31307EBEE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FAEF813-CB2A-7931-0EA0-A8F1C69C1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49E00F-C54D-D39E-F776-79C5729664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7346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9A1D9-057E-9755-31CC-83339E248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909071A-36ED-DAD3-6C3D-2E218B72D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0E2613E-1BC5-8BE1-C44E-ED40AAF76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4E077E-9C21-4A22-F9D6-6D75B4FBAE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1909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BB9A8-3227-85C0-3DD6-BAF41B0A9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CE83B89-3896-61BB-78A5-A20ACE5CE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49BD6C9-7957-C776-7C64-477AB2AD1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C950D3-40B9-ECD1-9115-B7AF14DE57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4626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7A37-7256-2750-40AF-4676160B1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6B6EF2-E4B6-81F7-BBFA-81CDA4486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B53CABF-9211-30D3-AD50-EA97315A1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B6B0CF-2F0E-1A99-6FA7-E03F33F64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31379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AB043-3F93-6DD7-E429-2080752B4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5136820-75B5-3006-0FCF-CCE0BF73C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8CF355C-1EB9-D96E-926C-0E50151C3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8A51F8-136D-FF18-11EA-B9EC66BBBC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891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B8151-3F4F-6C18-901E-B6340E43B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28CD5EA-CB4C-90EB-E89A-104B165E3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D4A84E4-6817-F761-9B73-6E364DA78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45F92A-8857-DA8C-5575-67D221477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10974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17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39131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l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70000"/>
              </a:lnSpc>
              <a:defRPr lang="en-ZA" sz="3800" b="1" spc="-300" dirty="0"/>
            </a:lvl1pPr>
          </a:lstStyle>
          <a:p>
            <a:pPr lvl="0" algn="r" rtl="0"/>
            <a:r>
              <a:rPr lang="es-ES" noProof="0" dirty="0"/>
              <a:t>Haga clic para editar el título de la presentación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visoria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</a:t>
            </a:r>
            <a:br>
              <a:rPr lang="es-ES" noProof="0"/>
            </a:br>
            <a:r>
              <a:rPr lang="es-ES" noProof="0"/>
              <a:t>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90000"/>
              </a:lnSpc>
              <a:defRPr lang="en-ZA" sz="3800" b="1" spc="-300" dirty="0"/>
            </a:lvl1pPr>
          </a:lstStyle>
          <a:p>
            <a:pPr lvl="0" algn="r" rtl="0"/>
            <a:r>
              <a:rPr lang="es-ES" noProof="0" dirty="0"/>
              <a:t>Haga clic para editar la línea divisoria de sección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visoria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</a:t>
            </a:r>
            <a:br>
              <a:rPr lang="es-ES" noProof="0"/>
            </a:br>
            <a:r>
              <a:rPr lang="es-ES" noProof="0"/>
              <a:t>su foto aquí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lnSpc>
                <a:spcPct val="8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noProof="0" dirty="0"/>
              <a:t>Haga clic para editar la línea divisoria de sección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la imagen del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lnSpc>
                <a:spcPct val="7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Edite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la imagen del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lnSpc>
                <a:spcPct val="8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Haga clic para editar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mparación izquierdo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comparación izquierdo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8" name="Marcador de posición de texto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grafí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Escriba la leyenda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4400" b="1" spc="-300" dirty="0"/>
            </a:lvl1pPr>
          </a:lstStyle>
          <a:p>
            <a:pPr lvl="0" algn="r" rtl="0"/>
            <a:r>
              <a:rPr lang="es-ES" noProof="0"/>
              <a:t>Gracias</a:t>
            </a:r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 dirty="0"/>
              <a:t>Nombre completo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Número de teléfono</a:t>
            </a:r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Identificador de red social o correo electrónico</a:t>
            </a:r>
          </a:p>
        </p:txBody>
      </p:sp>
      <p:sp>
        <p:nvSpPr>
          <p:cNvPr id="12" name="Marcador de texto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Sitio web de la empresa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texto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" name="Cuadro de texto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000"/>
              </a:lnSpc>
            </a:pPr>
            <a:r>
              <a:rPr lang="es-ES" sz="2500" b="1" i="0" spc="-100" noProof="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es-ES" sz="1600" b="1" i="0" spc="-100" noProof="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es-ES" sz="1600" b="1" i="0" spc="-100" baseline="0" noProof="0" dirty="0">
                <a:solidFill>
                  <a:schemeClr val="accent1"/>
                </a:solidFill>
                <a:latin typeface="+mj-lt"/>
              </a:rPr>
            </a:br>
            <a:r>
              <a:rPr lang="es-ES" sz="1200" b="0" i="0" spc="14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Marcador de posición de imagen 11" descr="Manos que se unen en un círculo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 rtlCol="0"/>
          <a:lstStyle/>
          <a:p>
            <a:pPr algn="ctr" rtl="0"/>
            <a:r>
              <a:rPr lang="es-ES" sz="6000" dirty="0"/>
              <a:t>Análisis estructurado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</p:spPr>
        <p:txBody>
          <a:bodyPr rtlCol="0"/>
          <a:lstStyle/>
          <a:p>
            <a:r>
              <a:rPr lang="es-MX" sz="1400" dirty="0"/>
              <a:t> KENDALL, KENNETH E. Y KENDALL, JULIE E. (2011) Análisis y diseño de sistemas.  </a:t>
            </a:r>
          </a:p>
          <a:p>
            <a:endParaRPr lang="es-MX" dirty="0"/>
          </a:p>
          <a:p>
            <a:endParaRPr lang="es-ES" dirty="0"/>
          </a:p>
        </p:txBody>
      </p:sp>
      <p:sp>
        <p:nvSpPr>
          <p:cNvPr id="51" name="Cuadro de texto 50">
            <a:extLst>
              <a:ext uri="{FF2B5EF4-FFF2-40B4-BE49-F238E27FC236}">
                <a16:creationId xmlns:a16="http://schemas.microsoft.com/office/drawing/2014/main" id="{66C1DE0A-7865-466B-B5D7-781C92357026}"/>
              </a:ext>
            </a:extLst>
          </p:cNvPr>
          <p:cNvSpPr txBox="1"/>
          <p:nvPr/>
        </p:nvSpPr>
        <p:spPr>
          <a:xfrm>
            <a:off x="9955763" y="3962655"/>
            <a:ext cx="2236237" cy="103559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ctr" rtl="0">
              <a:lnSpc>
                <a:spcPts val="1000"/>
              </a:lnSpc>
            </a:pPr>
            <a:r>
              <a:rPr lang="es-ES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Integrantes:</a:t>
            </a:r>
            <a:br>
              <a:rPr lang="es-ES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br>
              <a:rPr lang="es-ES" sz="1400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s-ES" sz="1400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Brandon Altamirano.</a:t>
            </a:r>
            <a:br>
              <a:rPr lang="es-ES" sz="1400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s-ES" sz="1400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Ismael Martinez.</a:t>
            </a:r>
          </a:p>
          <a:p>
            <a:pPr algn="ctr" rtl="0">
              <a:lnSpc>
                <a:spcPts val="1000"/>
              </a:lnSpc>
            </a:pPr>
            <a:r>
              <a:rPr lang="es-ES" sz="140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Kevin Sanchez.</a:t>
            </a:r>
          </a:p>
          <a:p>
            <a:pPr algn="ctr" rtl="0">
              <a:lnSpc>
                <a:spcPts val="1000"/>
              </a:lnSpc>
            </a:pPr>
            <a:r>
              <a:rPr lang="es-ES" sz="1400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Morel Solis.</a:t>
            </a:r>
            <a:br>
              <a:rPr lang="es-ES" sz="1400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endParaRPr lang="es-ES" b="0" i="0" spc="14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000" y="972311"/>
            <a:ext cx="5472000" cy="2999426"/>
          </a:xfrm>
        </p:spPr>
        <p:txBody>
          <a:bodyPr rtlCol="0"/>
          <a:lstStyle/>
          <a:p>
            <a:pPr marL="0" indent="0" rtl="0">
              <a:buNone/>
            </a:pPr>
            <a:r>
              <a:rPr lang="es-ES" sz="2400" b="1" dirty="0"/>
              <a:t>Introducción</a:t>
            </a:r>
          </a:p>
          <a:p>
            <a:pPr marL="0" indent="0" rtl="0">
              <a:buNone/>
            </a:pPr>
            <a:r>
              <a:rPr lang="es-MX" sz="2000" dirty="0"/>
              <a:t>Caso de Bob Martínez en el sistema </a:t>
            </a:r>
            <a:r>
              <a:rPr lang="es-MX" sz="2000" dirty="0" err="1"/>
              <a:t>SoundStage</a:t>
            </a:r>
            <a:r>
              <a:rPr lang="es-MX" sz="2000" dirty="0"/>
              <a:t> </a:t>
            </a:r>
            <a:r>
              <a:rPr lang="es-MX" sz="2000" dirty="0" err="1"/>
              <a:t>Member</a:t>
            </a:r>
            <a:r>
              <a:rPr lang="es-MX" sz="2000" dirty="0"/>
              <a:t> </a:t>
            </a:r>
            <a:r>
              <a:rPr lang="es-MX" sz="2000" dirty="0" err="1"/>
              <a:t>Services</a:t>
            </a:r>
            <a:r>
              <a:rPr lang="es-MX" sz="2000" dirty="0"/>
              <a:t>.</a:t>
            </a:r>
          </a:p>
          <a:p>
            <a:pPr marL="0" indent="0" rtl="0">
              <a:buNone/>
            </a:pPr>
            <a:r>
              <a:rPr lang="es-MX" sz="2000" dirty="0"/>
              <a:t>Problema: el sistema es demasiado grande para comprenderlo en su totalidad.</a:t>
            </a:r>
          </a:p>
          <a:p>
            <a:pPr marL="0" indent="0" rtl="0">
              <a:buNone/>
            </a:pPr>
            <a:r>
              <a:rPr lang="es-MX" sz="2000" dirty="0"/>
              <a:t>Solución propuesta por su jefa: descomponer el sistema en procesos.</a:t>
            </a:r>
          </a:p>
          <a:p>
            <a:pPr marL="0" indent="0" rtl="0">
              <a:buNone/>
            </a:pPr>
            <a:r>
              <a:rPr lang="es-MX" sz="2000" dirty="0"/>
              <a:t>Cada proceso debe definir:</a:t>
            </a:r>
          </a:p>
          <a:p>
            <a:pPr marL="0" indent="0" rtl="0">
              <a:buNone/>
            </a:pPr>
            <a:r>
              <a:rPr lang="es-MX" sz="2000" dirty="0"/>
              <a:t>Entradas y salidas.</a:t>
            </a:r>
          </a:p>
          <a:p>
            <a:pPr marL="0" indent="0" rtl="0">
              <a:buNone/>
            </a:pPr>
            <a:r>
              <a:rPr lang="es-MX" sz="2000" dirty="0"/>
              <a:t>Origen y destino de los datos.</a:t>
            </a:r>
          </a:p>
          <a:p>
            <a:pPr marL="0" indent="0" rtl="0">
              <a:buNone/>
            </a:pPr>
            <a:r>
              <a:rPr lang="es-MX" sz="2000" dirty="0"/>
              <a:t>Lógica del proceso.</a:t>
            </a:r>
            <a:endParaRPr lang="es-ES" sz="2000" dirty="0"/>
          </a:p>
        </p:txBody>
      </p:sp>
      <p:pic>
        <p:nvPicPr>
          <p:cNvPr id="9" name="Marcador de posición de imagen 8" descr="Una mano tocando un teléfono móvil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Rectángulo 19" descr="Bloque de énfasis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MX" sz="2800" dirty="0"/>
              <a:t>Título: Resumen de la página 193</a:t>
            </a:r>
            <a:endParaRPr lang="es-ES" sz="280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r>
              <a:rPr lang="es-MX" b="1" dirty="0"/>
              <a:t>Subtítulo:</a:t>
            </a:r>
            <a:r>
              <a:rPr lang="es-MX" dirty="0"/>
              <a:t> Introducción a la modelación de procesos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Marcador de posición de imagen 13" descr="Una persona que escribe una nota a mano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263804"/>
            <a:ext cx="6096001" cy="1124345"/>
          </a:xfrm>
        </p:spPr>
        <p:txBody>
          <a:bodyPr rtlCol="0"/>
          <a:lstStyle/>
          <a:p>
            <a:pPr rtl="0"/>
            <a:r>
              <a:rPr lang="es-ES" sz="5200" dirty="0"/>
              <a:t>Desarrollo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4A7058-1BDA-0394-E9D5-07CA8133C40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095999" y="1792882"/>
            <a:ext cx="555056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Concepto de modelación de procesos:</a:t>
            </a:r>
            <a:endParaRPr kumimoji="0" lang="es-NI" altLang="es-N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</a:t>
            </a: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</a:t>
            </a: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una representación pictórica de la realidad.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 lógico:</a:t>
            </a: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describe qué es o qué hace el sistema, independiente de la tecnología.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Sinónimos: modelo elemental, conceptual, de negocios.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 físico:</a:t>
            </a: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describe qué es o qué hace el sistema y cómo se implementa técnicamente.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Sinónimos: modelo de implementación, modelo técnico.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Importancia de los modelos:</a:t>
            </a:r>
            <a:endParaRPr kumimoji="0" lang="es-NI" altLang="es-N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Ayudan a estructurar problemas no definidos.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aplican tanto a sistemas existentes como a sistemas propuestos.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Separan aspectos de negocio y técnicos.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altLang="es-N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10" descr="Escritorio con un ordenador, un teléfono, libros, etc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700" y="1287350"/>
            <a:ext cx="5956300" cy="1100565"/>
          </a:xfrm>
        </p:spPr>
        <p:txBody>
          <a:bodyPr rtlCol="0"/>
          <a:lstStyle/>
          <a:p>
            <a:pPr algn="ctr"/>
            <a:r>
              <a:rPr lang="es-NI" sz="5400" dirty="0"/>
              <a:t>Conclusión</a:t>
            </a:r>
            <a:endParaRPr lang="es-ES" sz="5200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5700" y="2387915"/>
            <a:ext cx="5956300" cy="3983436"/>
          </a:xfrm>
        </p:spPr>
        <p:txBody>
          <a:bodyPr rtlCol="0"/>
          <a:lstStyle/>
          <a:p>
            <a:pPr algn="l" rtl="0"/>
            <a:r>
              <a:rPr lang="es-MX" dirty="0"/>
              <a:t>Los modelos lógicos son preferidos en análisis de sistemas porque:</a:t>
            </a:r>
          </a:p>
          <a:p>
            <a:pPr algn="l" rtl="0"/>
            <a:r>
              <a:rPr lang="es-MX" dirty="0"/>
              <a:t>Eliminan sesgos de implementación y fomentan la creatividad.</a:t>
            </a:r>
          </a:p>
          <a:p>
            <a:pPr algn="l" rtl="0"/>
            <a:r>
              <a:rPr lang="es-MX" dirty="0"/>
              <a:t>Reducen el riesgo de omitir requisitos de negocio.</a:t>
            </a:r>
          </a:p>
          <a:p>
            <a:pPr algn="l" rtl="0"/>
            <a:r>
              <a:rPr lang="es-MX" dirty="0"/>
              <a:t>Facilitan la comunicación con usuarios en un lenguaje no técnico.</a:t>
            </a:r>
          </a:p>
          <a:p>
            <a:pPr algn="l" rtl="0"/>
            <a:r>
              <a:rPr lang="es-MX" dirty="0"/>
              <a:t>Los modelos físicos son útiles para el diseño técnico, pero dependen de la tecnología elegida.</a:t>
            </a:r>
          </a:p>
          <a:p>
            <a:pPr algn="l" rtl="0"/>
            <a:r>
              <a:rPr lang="es-MX" dirty="0"/>
              <a:t>La separación entre modelos lógicos y físicos asegura claridad, exactitud y consistencia en el desarrollo de sistemas.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0" y="1796716"/>
            <a:ext cx="4903599" cy="2317910"/>
          </a:xfrm>
        </p:spPr>
        <p:txBody>
          <a:bodyPr rtlCol="0"/>
          <a:lstStyle/>
          <a:p>
            <a:pPr rtl="0"/>
            <a:r>
              <a:rPr lang="es-MX" sz="5200" dirty="0"/>
              <a:t>Título: Resumen de la página 194</a:t>
            </a:r>
            <a:endParaRPr lang="es-ES" sz="5200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2972F17A-D965-40B9-8ABB-C634072DB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01899" y="1796714"/>
            <a:ext cx="7290101" cy="2317909"/>
          </a:xfrm>
        </p:spPr>
        <p:txBody>
          <a:bodyPr rtlCol="0"/>
          <a:lstStyle/>
          <a:p>
            <a:pPr rtl="0"/>
            <a:r>
              <a:rPr lang="es-MX" sz="1600" dirty="0"/>
              <a:t>Introducción: El capítulo se centra en la modelación de procesos lógicos durante el análisis de sistemas.</a:t>
            </a:r>
          </a:p>
          <a:p>
            <a:pPr rtl="0"/>
            <a:r>
              <a:rPr lang="es-MX" sz="1600" dirty="0"/>
              <a:t>Objetivo: organizar y documentar la estructura y flujo de datos a través de los procesos.</a:t>
            </a:r>
          </a:p>
          <a:p>
            <a:pPr rtl="0"/>
            <a:r>
              <a:rPr lang="es-MX" sz="1600" dirty="0"/>
              <a:t>Los modelos lógicos permiten representar el sistema desde la perspectiva de dueños y usuarios.</a:t>
            </a:r>
          </a:p>
          <a:p>
            <a:pPr rtl="0"/>
            <a:r>
              <a:rPr lang="es-MX" sz="1600" dirty="0"/>
              <a:t>El diagrama de contexto muestra la comunicación entre el sistema y su entorno.</a:t>
            </a:r>
            <a:endParaRPr lang="es-ES" sz="16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5</a:t>
            </a:fld>
            <a:endParaRPr lang="es-ES"/>
          </a:p>
        </p:txBody>
      </p:sp>
      <p:sp>
        <p:nvSpPr>
          <p:cNvPr id="6" name="Marcador de texto 9">
            <a:extLst>
              <a:ext uri="{FF2B5EF4-FFF2-40B4-BE49-F238E27FC236}">
                <a16:creationId xmlns:a16="http://schemas.microsoft.com/office/drawing/2014/main" id="{FAB2CB20-64EC-BD54-6D1B-829DC3AF62B2}"/>
              </a:ext>
            </a:extLst>
          </p:cNvPr>
          <p:cNvSpPr txBox="1">
            <a:spLocks/>
          </p:cNvSpPr>
          <p:nvPr/>
        </p:nvSpPr>
        <p:spPr>
          <a:xfrm>
            <a:off x="0" y="4114625"/>
            <a:ext cx="4902200" cy="1100565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667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29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096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763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s-MX" dirty="0"/>
            </a:br>
            <a:r>
              <a:rPr lang="es-MX" sz="2000" dirty="0" err="1"/>
              <a:t>Subtítulo:Modelación</a:t>
            </a:r>
            <a:r>
              <a:rPr lang="es-MX" sz="2000" dirty="0"/>
              <a:t> de procesos lógicos y diagramas de flujo de datos(DFD)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26376"/>
            <a:ext cx="11340000" cy="432000"/>
          </a:xfrm>
        </p:spPr>
        <p:txBody>
          <a:bodyPr rtlCol="0"/>
          <a:lstStyle/>
          <a:p>
            <a:pPr rtl="0"/>
            <a:r>
              <a:rPr lang="es-ES" dirty="0"/>
              <a:t>Desarrollo</a:t>
            </a:r>
          </a:p>
        </p:txBody>
      </p:sp>
      <p:sp>
        <p:nvSpPr>
          <p:cNvPr id="12" name="Rectángulo 11" descr="Bloque de énfasis izquierdo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7828" y="2263459"/>
            <a:ext cx="5472000" cy="360000"/>
          </a:xfrm>
        </p:spPr>
        <p:txBody>
          <a:bodyPr rtlCol="0"/>
          <a:lstStyle/>
          <a:p>
            <a:r>
              <a:rPr lang="es-NI" sz="1800" dirty="0"/>
              <a:t>Símbolos básicos en DFD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2000" y="2638767"/>
            <a:ext cx="5472000" cy="2813424"/>
          </a:xfrm>
        </p:spPr>
        <p:txBody>
          <a:bodyPr rtlCol="0"/>
          <a:lstStyle/>
          <a:p>
            <a:pPr rtl="0"/>
            <a:r>
              <a:rPr lang="es-MX" dirty="0"/>
              <a:t>Rectángulos redondeados → procesos o trabajo.</a:t>
            </a:r>
          </a:p>
          <a:p>
            <a:pPr rtl="0"/>
            <a:r>
              <a:rPr lang="es-MX" dirty="0"/>
              <a:t>Cuadrados → agentes externos (límite del sistema).</a:t>
            </a:r>
          </a:p>
          <a:p>
            <a:pPr rtl="0"/>
            <a:r>
              <a:rPr lang="es-MX" dirty="0"/>
              <a:t>Cajas abiertas → almacenes de datos.</a:t>
            </a:r>
          </a:p>
          <a:p>
            <a:pPr rtl="0"/>
            <a:r>
              <a:rPr lang="es-MX" dirty="0"/>
              <a:t>Flechas → flujos de datos.</a:t>
            </a:r>
            <a:endParaRPr lang="es-ES" dirty="0"/>
          </a:p>
        </p:txBody>
      </p:sp>
      <p:cxnSp>
        <p:nvCxnSpPr>
          <p:cNvPr id="11" name="Conector recto 10" descr="Línea divisoria de la diapositiva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 descr="Barra de énfasis derecha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443459"/>
            <a:ext cx="5472000" cy="358775"/>
          </a:xfrm>
        </p:spPr>
        <p:txBody>
          <a:bodyPr rtlCol="0"/>
          <a:lstStyle/>
          <a:p>
            <a:pPr rtl="0"/>
            <a:r>
              <a:rPr lang="es-ES" sz="2000" dirty="0"/>
              <a:t>Diferencias con diagramas de flujo tradicionales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947459"/>
            <a:ext cx="5472113" cy="2196041"/>
          </a:xfrm>
        </p:spPr>
        <p:txBody>
          <a:bodyPr rtlCol="0"/>
          <a:lstStyle/>
          <a:p>
            <a:pPr rtl="0"/>
            <a:r>
              <a:rPr lang="es-MX" dirty="0"/>
              <a:t>Procesos en DFD pueden operar en paralelo.</a:t>
            </a:r>
          </a:p>
          <a:p>
            <a:pPr rtl="0"/>
            <a:r>
              <a:rPr lang="es-MX" dirty="0"/>
              <a:t>DFD muestran trayectorias de datos, no secuencias de pasos.</a:t>
            </a:r>
          </a:p>
          <a:p>
            <a:pPr rtl="0"/>
            <a:r>
              <a:rPr lang="es-MX" dirty="0"/>
              <a:t>Diagramas de flujo muestran la secuencia de operaciones en un algoritmo.</a:t>
            </a:r>
          </a:p>
          <a:p>
            <a:pPr rtl="0"/>
            <a:r>
              <a:rPr lang="es-MX" dirty="0"/>
              <a:t>DFD pueden incluir procesos con cronometrajes distintos (horarios, diarios, semanales, anuales, bajo demanda).</a:t>
            </a:r>
            <a:endParaRPr lang="es-ES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6</a:t>
            </a:fld>
            <a:endParaRPr lang="es-E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BB6743D9-FCEF-7F9A-89CF-ADBD7B5DCCB0}"/>
              </a:ext>
            </a:extLst>
          </p:cNvPr>
          <p:cNvSpPr>
            <a:spLocks noGrp="1" noChangeArrowheads="1"/>
          </p:cNvSpPr>
          <p:nvPr>
            <p:ph type="body" sz="quarter" idx="32"/>
          </p:nvPr>
        </p:nvSpPr>
        <p:spPr bwMode="auto">
          <a:xfrm>
            <a:off x="327828" y="589377"/>
            <a:ext cx="8574783" cy="1415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Origen:</a:t>
            </a: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modelación de procesos proviene de la ingeniería de software clásica.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Herramienta principal:</a:t>
            </a: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los </a:t>
            </a: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diagramas de flujo de datos (DFD)</a:t>
            </a: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NI" altLang="es-NI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Sinónimos: diagrama de burbuja, gráfica de transformación, modelo de procesos.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NI" altLang="es-NI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complementan con diagramas de descomposición y diagramas de contexto.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altLang="es-N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1332C-1A75-9FCC-D025-B577A1A0F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10" descr="Escritorio con un ordenador, un teléfono, libros, etc.">
            <a:extLst>
              <a:ext uri="{FF2B5EF4-FFF2-40B4-BE49-F238E27FC236}">
                <a16:creationId xmlns:a16="http://schemas.microsoft.com/office/drawing/2014/main" id="{FCD4E133-B37F-6823-157E-4440B0F6A50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0015EDD5-C36C-FD2D-0627-B62B1B44A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700" y="1102396"/>
            <a:ext cx="5956300" cy="1100565"/>
          </a:xfrm>
        </p:spPr>
        <p:txBody>
          <a:bodyPr rtlCol="0"/>
          <a:lstStyle/>
          <a:p>
            <a:pPr algn="ctr"/>
            <a:r>
              <a:rPr lang="es-NI" sz="5400" dirty="0"/>
              <a:t>Conclusión</a:t>
            </a:r>
            <a:endParaRPr lang="es-ES" sz="5200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4AA5FFE3-E665-1BE7-F81C-0833901652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5700" y="2202961"/>
            <a:ext cx="5956300" cy="4168390"/>
          </a:xfrm>
        </p:spPr>
        <p:txBody>
          <a:bodyPr rtlCol="0"/>
          <a:lstStyle/>
          <a:p>
            <a:pPr algn="l" rtl="0"/>
            <a:r>
              <a:rPr lang="es-MX" dirty="0"/>
              <a:t>Los DFD son fáciles de leer y facilitan la comunicación entre analistas y usuarios.</a:t>
            </a:r>
          </a:p>
          <a:p>
            <a:pPr algn="l" rtl="0"/>
            <a:r>
              <a:rPr lang="es-MX" dirty="0"/>
              <a:t>Han sido populares por más de 20 años y hoy resurgen gracias al </a:t>
            </a:r>
            <a:r>
              <a:rPr lang="es-MX" b="1" dirty="0"/>
              <a:t>Business </a:t>
            </a:r>
            <a:r>
              <a:rPr lang="es-MX" b="1" dirty="0" err="1"/>
              <a:t>Process</a:t>
            </a:r>
            <a:r>
              <a:rPr lang="es-MX" b="1" dirty="0"/>
              <a:t> </a:t>
            </a:r>
            <a:r>
              <a:rPr lang="es-MX" b="1" dirty="0" err="1"/>
              <a:t>Reengineering</a:t>
            </a:r>
            <a:r>
              <a:rPr lang="es-MX" b="1" dirty="0"/>
              <a:t> (BPR).</a:t>
            </a:r>
          </a:p>
          <a:p>
            <a:pPr algn="l" rtl="0"/>
            <a:r>
              <a:rPr lang="es-MX" dirty="0"/>
              <a:t>El rediseño de procesos de negocio busca eliminar prácticas obsoletas y burocráticas.</a:t>
            </a:r>
          </a:p>
          <a:p>
            <a:pPr algn="l" rtl="0"/>
            <a:r>
              <a:rPr lang="es-MX" dirty="0"/>
              <a:t>La tecnología de la información se aplica después de rediseñar los procesos, maximizando el valor para el negocio.</a:t>
            </a:r>
          </a:p>
          <a:p>
            <a:pPr algn="l" rtl="0"/>
            <a:r>
              <a:rPr lang="es-MX" dirty="0"/>
              <a:t>Diferenciar DFD de diagramas de flujo asegura un análisis más preciso y útil.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D57576F-7EEE-8CB9-99CB-559022C2C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0619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BAA7ED-33B0-BE72-B7FC-CC3A74B6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DFC5557-F0E9-8496-B4E1-25CC3CA5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0" y="1780674"/>
            <a:ext cx="4903599" cy="2333952"/>
          </a:xfrm>
        </p:spPr>
        <p:txBody>
          <a:bodyPr rtlCol="0"/>
          <a:lstStyle/>
          <a:p>
            <a:pPr rtl="0"/>
            <a:r>
              <a:rPr lang="es-MX" sz="5200" dirty="0"/>
              <a:t>Título: Resumen de la página 195</a:t>
            </a:r>
            <a:endParaRPr lang="es-ES" sz="5200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46022FA7-D00E-8027-69CA-0773759C2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01898" y="1782610"/>
            <a:ext cx="7290102" cy="2332014"/>
          </a:xfrm>
        </p:spPr>
        <p:txBody>
          <a:bodyPr rtlCol="0"/>
          <a:lstStyle/>
          <a:p>
            <a:pPr rtl="0"/>
            <a:r>
              <a:rPr lang="es-MX" sz="1400" dirty="0" err="1"/>
              <a:t>Introducción:Los</a:t>
            </a:r>
            <a:r>
              <a:rPr lang="es-MX" sz="1400" dirty="0"/>
              <a:t> agentes externos forman la frontera de un sistema de información.</a:t>
            </a:r>
          </a:p>
          <a:p>
            <a:pPr rtl="0"/>
            <a:r>
              <a:rPr lang="es-MX" sz="1400" dirty="0"/>
              <a:t>Definen los puntos de interfaz entre el sistema y su ambiente.</a:t>
            </a:r>
          </a:p>
          <a:p>
            <a:pPr rtl="0"/>
            <a:r>
              <a:rPr lang="es-MX" sz="1400" dirty="0"/>
              <a:t>Representan personas, unidades, organizaciones o sistemas que interactúan con el sistema, pero están fuera de su alcance.</a:t>
            </a:r>
          </a:p>
          <a:p>
            <a:pPr rtl="0"/>
            <a:r>
              <a:rPr lang="es-MX" sz="1400" dirty="0"/>
              <a:t>Se representan en DFD con:</a:t>
            </a:r>
          </a:p>
          <a:p>
            <a:pPr rtl="0"/>
            <a:r>
              <a:rPr lang="es-MX" sz="1400" dirty="0"/>
              <a:t>Cuadrado (Gane y </a:t>
            </a:r>
            <a:r>
              <a:rPr lang="es-MX" sz="1400" dirty="0" err="1"/>
              <a:t>Sarson</a:t>
            </a:r>
            <a:r>
              <a:rPr lang="es-MX" sz="1400" dirty="0"/>
              <a:t>).</a:t>
            </a:r>
          </a:p>
          <a:p>
            <a:pPr rtl="0"/>
            <a:r>
              <a:rPr lang="es-MX" sz="1400" dirty="0"/>
              <a:t>Rectángulo (</a:t>
            </a:r>
            <a:r>
              <a:rPr lang="es-MX" sz="1400" dirty="0" err="1"/>
              <a:t>DeMarco</a:t>
            </a:r>
            <a:r>
              <a:rPr lang="es-MX" sz="1400" dirty="0"/>
              <a:t>/</a:t>
            </a:r>
            <a:r>
              <a:rPr lang="es-MX" sz="1400" dirty="0" err="1"/>
              <a:t>Yourdon</a:t>
            </a:r>
            <a:r>
              <a:rPr lang="es-MX" sz="1400" dirty="0"/>
              <a:t>).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7B24AD-6289-CAD4-D52D-BE688C3A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Marcador de texto 9">
            <a:extLst>
              <a:ext uri="{FF2B5EF4-FFF2-40B4-BE49-F238E27FC236}">
                <a16:creationId xmlns:a16="http://schemas.microsoft.com/office/drawing/2014/main" id="{737F0DA9-2D92-F4BD-20C4-1C7A906F5218}"/>
              </a:ext>
            </a:extLst>
          </p:cNvPr>
          <p:cNvSpPr txBox="1">
            <a:spLocks/>
          </p:cNvSpPr>
          <p:nvPr/>
        </p:nvSpPr>
        <p:spPr>
          <a:xfrm>
            <a:off x="0" y="4114625"/>
            <a:ext cx="4902200" cy="1100565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667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29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096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763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sz="2000" b="1" dirty="0"/>
              <a:t>Subtítulo: Conceptos de sistemas para la modelación de procesos – Agentes externos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386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ECC19-BB42-419F-6FD9-169EAC65D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D7E0B-2E47-AA2B-58D2-7B645704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26376"/>
            <a:ext cx="11340000" cy="432000"/>
          </a:xfrm>
        </p:spPr>
        <p:txBody>
          <a:bodyPr rtlCol="0"/>
          <a:lstStyle/>
          <a:p>
            <a:pPr rtl="0"/>
            <a:r>
              <a:rPr lang="es-ES" dirty="0"/>
              <a:t>Desarrollo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07CAF9-82CD-37FC-FC09-C14C0334C32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2287" y="732301"/>
            <a:ext cx="11339513" cy="360000"/>
          </a:xfrm>
        </p:spPr>
        <p:txBody>
          <a:bodyPr rtlCol="0"/>
          <a:lstStyle/>
          <a:p>
            <a:r>
              <a:rPr lang="es-MX" sz="1600" b="1" dirty="0"/>
              <a:t>Características de los agentes externos:</a:t>
            </a:r>
            <a:endParaRPr lang="es-MX" sz="1600" dirty="0"/>
          </a:p>
          <a:p>
            <a:r>
              <a:rPr lang="es-MX" sz="1600" dirty="0"/>
              <a:t>Proveen </a:t>
            </a:r>
            <a:r>
              <a:rPr lang="es-MX" sz="1600" b="1" dirty="0"/>
              <a:t>entradas netas</a:t>
            </a:r>
            <a:r>
              <a:rPr lang="es-MX" sz="1600" dirty="0"/>
              <a:t> al sistema y reciben </a:t>
            </a:r>
            <a:r>
              <a:rPr lang="es-MX" sz="1600" b="1" dirty="0"/>
              <a:t>salidas netas</a:t>
            </a:r>
            <a:r>
              <a:rPr lang="es-MX" sz="1600" dirty="0"/>
              <a:t>.</a:t>
            </a:r>
          </a:p>
          <a:p>
            <a:r>
              <a:rPr lang="es-MX" sz="1600" dirty="0"/>
              <a:t>Su trabajo y actividades están </a:t>
            </a:r>
            <a:r>
              <a:rPr lang="es-MX" sz="1600" b="1" dirty="0"/>
              <a:t>fuera del alcance</a:t>
            </a:r>
            <a:r>
              <a:rPr lang="es-MX" sz="1600" dirty="0"/>
              <a:t> del sistema.</a:t>
            </a:r>
          </a:p>
          <a:p>
            <a:r>
              <a:rPr lang="es-MX" sz="1600" dirty="0"/>
              <a:t>Pueden cambiar según el </a:t>
            </a:r>
            <a:r>
              <a:rPr lang="es-MX" sz="1600" b="1" dirty="0"/>
              <a:t>alcance del proyecto</a:t>
            </a:r>
            <a:r>
              <a:rPr lang="es-MX" sz="1600" dirty="0"/>
              <a:t> (lo que era externo puede volverse interno y viceversa).</a:t>
            </a:r>
          </a:p>
        </p:txBody>
      </p:sp>
      <p:sp>
        <p:nvSpPr>
          <p:cNvPr id="12" name="Rectángulo 11" descr="Bloque de énfasis izquierdo">
            <a:extLst>
              <a:ext uri="{FF2B5EF4-FFF2-40B4-BE49-F238E27FC236}">
                <a16:creationId xmlns:a16="http://schemas.microsoft.com/office/drawing/2014/main" id="{DBAE6586-03DD-A006-3D65-D1563127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9437EA-BD99-252A-C28F-9B09C1F57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7828" y="2263459"/>
            <a:ext cx="5472000" cy="360000"/>
          </a:xfrm>
        </p:spPr>
        <p:txBody>
          <a:bodyPr rtlCol="0"/>
          <a:lstStyle/>
          <a:p>
            <a:r>
              <a:rPr lang="es-NI" sz="1800" dirty="0"/>
              <a:t>Ejemplos comunes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EFB392C-206C-AB94-D1F0-72DB42A23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5828" y="2622846"/>
            <a:ext cx="5010150" cy="2719175"/>
          </a:xfrm>
        </p:spPr>
        <p:txBody>
          <a:bodyPr rtlCol="0"/>
          <a:lstStyle/>
          <a:p>
            <a:pPr rtl="0"/>
            <a:r>
              <a:rPr lang="es-MX" dirty="0"/>
              <a:t>Departamentos internos que interactúan con el sistema.</a:t>
            </a:r>
          </a:p>
          <a:p>
            <a:pPr rtl="0"/>
            <a:r>
              <a:rPr lang="es-MX" dirty="0"/>
              <a:t>Organizaciones externas: clientes, proveedores, contratistas, bancos, organismos gubernamentales.</a:t>
            </a:r>
          </a:p>
          <a:p>
            <a:pPr rtl="0"/>
            <a:r>
              <a:rPr lang="es-MX" dirty="0"/>
              <a:t>Otros sistemas de información (internos o de otros negocios).</a:t>
            </a:r>
          </a:p>
          <a:p>
            <a:pPr rtl="0"/>
            <a:r>
              <a:rPr lang="es-MX" dirty="0"/>
              <a:t>Usuarios finales o gerentes que aportan datos o reciben resultados.</a:t>
            </a:r>
            <a:endParaRPr lang="es-ES" dirty="0"/>
          </a:p>
        </p:txBody>
      </p:sp>
      <p:cxnSp>
        <p:nvCxnSpPr>
          <p:cNvPr id="11" name="Conector recto 10" descr="Línea divisoria de la diapositiva">
            <a:extLst>
              <a:ext uri="{FF2B5EF4-FFF2-40B4-BE49-F238E27FC236}">
                <a16:creationId xmlns:a16="http://schemas.microsoft.com/office/drawing/2014/main" id="{574DCF6E-F5BD-EA86-D367-C2FD2D7A8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 descr="Barra de énfasis derecha&#10;">
            <a:extLst>
              <a:ext uri="{FF2B5EF4-FFF2-40B4-BE49-F238E27FC236}">
                <a16:creationId xmlns:a16="http://schemas.microsoft.com/office/drawing/2014/main" id="{47641C95-1675-79F3-8326-8C7A8625F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5824899-1D3F-4CC8-FFE0-5DB00EA172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443459"/>
            <a:ext cx="5472000" cy="358775"/>
          </a:xfrm>
        </p:spPr>
        <p:txBody>
          <a:bodyPr rtlCol="0"/>
          <a:lstStyle/>
          <a:p>
            <a:pPr rtl="0"/>
            <a:r>
              <a:rPr lang="es-ES" sz="2000" dirty="0"/>
              <a:t>Reglas de </a:t>
            </a:r>
            <a:r>
              <a:rPr lang="es-ES" sz="2000" dirty="0" err="1"/>
              <a:t>denominaciÓn</a:t>
            </a:r>
            <a:endParaRPr lang="es-ES" sz="2000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EB49E5AC-53D0-0E5A-D5E7-E217D73574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7887" y="2802234"/>
            <a:ext cx="5472113" cy="3569117"/>
          </a:xfrm>
        </p:spPr>
        <p:txBody>
          <a:bodyPr rtlCol="0"/>
          <a:lstStyle/>
          <a:p>
            <a:pPr rtl="0"/>
            <a:r>
              <a:rPr lang="es-ES" dirty="0"/>
              <a:t>Usar sustantivos y singulares (ej. PROVEEDOR, SISTEMA DE FABRICACION).</a:t>
            </a:r>
          </a:p>
          <a:p>
            <a:pPr rtl="0"/>
            <a:r>
              <a:rPr lang="es-ES" dirty="0"/>
              <a:t>Se permiten acrónimos(</a:t>
            </a:r>
            <a:r>
              <a:rPr lang="es-ES" dirty="0" err="1"/>
              <a:t>ej.FMIS</a:t>
            </a:r>
            <a:r>
              <a:rPr lang="es-ES" dirty="0"/>
              <a:t>).</a:t>
            </a:r>
          </a:p>
          <a:p>
            <a:pPr rtl="0"/>
            <a:r>
              <a:rPr lang="es-ES" dirty="0"/>
              <a:t>Para individuos, usar títulos de puesto(ej. EJECUTIVO DE CUENTA).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04D583BA-1957-AB71-6845-3888A3695FC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534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472C4-0A49-C8C7-33BF-0EFF767E6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10" descr="Escritorio con un ordenador, un teléfono, libros, etc.">
            <a:extLst>
              <a:ext uri="{FF2B5EF4-FFF2-40B4-BE49-F238E27FC236}">
                <a16:creationId xmlns:a16="http://schemas.microsoft.com/office/drawing/2014/main" id="{7354E1FC-E0C9-EB36-E310-2F9C9715A2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73A0DCA6-1171-74DF-396A-A89CF93C7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700" y="2204792"/>
            <a:ext cx="5956300" cy="1100565"/>
          </a:xfrm>
        </p:spPr>
        <p:txBody>
          <a:bodyPr rtlCol="0"/>
          <a:lstStyle/>
          <a:p>
            <a:pPr algn="ctr"/>
            <a:r>
              <a:rPr lang="es-NI" sz="5400" dirty="0"/>
              <a:t>Conclusión</a:t>
            </a:r>
            <a:endParaRPr lang="es-ES" sz="5200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0782F139-A07F-838E-9CB1-BF7EA216EB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5700" y="3305357"/>
            <a:ext cx="5956300" cy="3065994"/>
          </a:xfrm>
        </p:spPr>
        <p:txBody>
          <a:bodyPr rtlCol="0"/>
          <a:lstStyle/>
          <a:p>
            <a:pPr algn="l" rtl="0"/>
            <a:r>
              <a:rPr lang="es-MX" dirty="0"/>
              <a:t>Los agentes externos son esenciales para definir los límites del sistema.</a:t>
            </a:r>
          </a:p>
          <a:p>
            <a:pPr algn="l" rtl="0"/>
            <a:r>
              <a:rPr lang="es-MX" dirty="0"/>
              <a:t>Su correcta identificación asegura una interacción clara entre el sistema y su entorno.</a:t>
            </a:r>
          </a:p>
          <a:p>
            <a:pPr algn="l" rtl="0"/>
            <a:r>
              <a:rPr lang="es-MX" dirty="0"/>
              <a:t>Deben ubicarse en los perímetros del DFD para reflejar su rol como frontera.</a:t>
            </a:r>
          </a:p>
          <a:p>
            <a:pPr algn="l" rtl="0"/>
            <a:r>
              <a:rPr lang="es-MX" dirty="0"/>
              <a:t>La duplicación de agentes externos en un DFD es válida para evitar cruces de líneas, manteniendo la claridad visual.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A34067-2D30-2FA0-C98E-B06AD9B6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738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7CF036-6CAF-47E6-DF45-BE379CCFF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8F41D09-6808-2BA5-65A9-B7865F516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0" y="1989221"/>
            <a:ext cx="4903599" cy="2125405"/>
          </a:xfrm>
        </p:spPr>
        <p:txBody>
          <a:bodyPr rtlCol="0"/>
          <a:lstStyle/>
          <a:p>
            <a:pPr rtl="0"/>
            <a:r>
              <a:rPr lang="es-MX" sz="5200" dirty="0"/>
              <a:t>Título: Resumen de la página 196</a:t>
            </a:r>
            <a:endParaRPr lang="es-ES" sz="5200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5B7C229-6B85-07DB-8B5B-0DD5FD36B4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01898" y="1989219"/>
            <a:ext cx="6985301" cy="2125405"/>
          </a:xfrm>
        </p:spPr>
        <p:txBody>
          <a:bodyPr rtlCol="0"/>
          <a:lstStyle/>
          <a:p>
            <a:pPr rtl="0"/>
            <a:r>
              <a:rPr lang="es-MX" sz="1400" dirty="0"/>
              <a:t>Introducción.</a:t>
            </a:r>
          </a:p>
          <a:p>
            <a:pPr rtl="0"/>
            <a:r>
              <a:rPr lang="es-MX" sz="1400" dirty="0"/>
              <a:t>Los almacenes de datos son el último símbolo en un DFD.</a:t>
            </a:r>
          </a:p>
          <a:p>
            <a:pPr rtl="0"/>
            <a:r>
              <a:rPr lang="es-MX" sz="1400" dirty="0"/>
              <a:t>Representan datos almacenados para uso posterior.</a:t>
            </a:r>
          </a:p>
          <a:p>
            <a:pPr rtl="0"/>
            <a:r>
              <a:rPr lang="es-MX" sz="1400" dirty="0"/>
              <a:t>Se ilustran con una caja de extremo abierto (Gane y </a:t>
            </a:r>
            <a:r>
              <a:rPr lang="es-MX" sz="1400" dirty="0" err="1"/>
              <a:t>Sarson</a:t>
            </a:r>
            <a:r>
              <a:rPr lang="es-MX" sz="1400" dirty="0"/>
              <a:t> / </a:t>
            </a:r>
            <a:r>
              <a:rPr lang="es-MX" sz="1400" dirty="0" err="1"/>
              <a:t>DeMarco-Yourdon</a:t>
            </a:r>
            <a:r>
              <a:rPr lang="es-MX" sz="1400" dirty="0"/>
              <a:t>).</a:t>
            </a:r>
          </a:p>
          <a:p>
            <a:pPr rtl="0"/>
            <a:r>
              <a:rPr lang="es-MX" sz="1400" dirty="0"/>
              <a:t>Funcionan como un inventario de información.</a:t>
            </a:r>
          </a:p>
          <a:p>
            <a:pPr rtl="0"/>
            <a:r>
              <a:rPr lang="es-MX" sz="1400" dirty="0"/>
              <a:t>Sinónimos: archivo y base de datos (aunque más técnicos).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D2C2E0-B622-025B-9697-F60BE9497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Marcador de texto 9">
            <a:extLst>
              <a:ext uri="{FF2B5EF4-FFF2-40B4-BE49-F238E27FC236}">
                <a16:creationId xmlns:a16="http://schemas.microsoft.com/office/drawing/2014/main" id="{038A5F90-BF5D-2500-C679-95C83CBBD2D2}"/>
              </a:ext>
            </a:extLst>
          </p:cNvPr>
          <p:cNvSpPr txBox="1">
            <a:spLocks/>
          </p:cNvSpPr>
          <p:nvPr/>
        </p:nvSpPr>
        <p:spPr>
          <a:xfrm>
            <a:off x="0" y="4114625"/>
            <a:ext cx="4902200" cy="1100565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667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29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096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763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Subtítulo: Conceptos de sistemas para la modelación de procesos – Almacenes de datos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349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A631F-06E7-4CEF-B9C8-A9132884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5625B-CA30-EDA9-C818-42155871A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26376"/>
            <a:ext cx="11340000" cy="432000"/>
          </a:xfrm>
        </p:spPr>
        <p:txBody>
          <a:bodyPr rtlCol="0"/>
          <a:lstStyle/>
          <a:p>
            <a:pPr rtl="0"/>
            <a:r>
              <a:rPr lang="es-ES" dirty="0"/>
              <a:t>Desarrollo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9DC27F-968B-E605-F433-50541FD7D88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2287" y="732301"/>
            <a:ext cx="11339513" cy="360000"/>
          </a:xfrm>
        </p:spPr>
        <p:txBody>
          <a:bodyPr rtlCol="0"/>
          <a:lstStyle/>
          <a:p>
            <a:r>
              <a:rPr lang="es-MX" sz="1600" dirty="0"/>
              <a:t>Buenas Practicas:</a:t>
            </a:r>
            <a:br>
              <a:rPr lang="es-MX" sz="1600" dirty="0"/>
            </a:br>
            <a:r>
              <a:rPr lang="es-MX" sz="1600" dirty="0"/>
              <a:t>Nombrar en plural(ej. CLIENTES).</a:t>
            </a:r>
          </a:p>
          <a:p>
            <a:r>
              <a:rPr lang="es-MX" sz="1600" dirty="0"/>
              <a:t>Evitar términos  físicos como archivo o carpeta.</a:t>
            </a:r>
          </a:p>
          <a:p>
            <a:r>
              <a:rPr lang="es-MX" sz="1600" dirty="0"/>
              <a:t>Se permite duplicar almacenes en un DFD para evitar cruces de líneas, pero debe minimizarse.</a:t>
            </a:r>
          </a:p>
        </p:txBody>
      </p:sp>
      <p:sp>
        <p:nvSpPr>
          <p:cNvPr id="12" name="Rectángulo 11" descr="Bloque de énfasis izquierdo">
            <a:extLst>
              <a:ext uri="{FF2B5EF4-FFF2-40B4-BE49-F238E27FC236}">
                <a16:creationId xmlns:a16="http://schemas.microsoft.com/office/drawing/2014/main" id="{CC32356E-FD88-20A7-C98A-A158EAB71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ED455B-FDAF-8728-D675-AE94A2246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7828" y="2263459"/>
            <a:ext cx="5472000" cy="360000"/>
          </a:xfrm>
        </p:spPr>
        <p:txBody>
          <a:bodyPr rtlCol="0"/>
          <a:lstStyle/>
          <a:p>
            <a:r>
              <a:rPr lang="es-NI" sz="1800" dirty="0"/>
              <a:t>Relación con modelo de datos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431D46B-39D5-70B8-CD60-0930CE3F2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5828" y="2622846"/>
            <a:ext cx="5010150" cy="2719175"/>
          </a:xfrm>
        </p:spPr>
        <p:txBody>
          <a:bodyPr rtlCol="0"/>
          <a:lstStyle/>
          <a:p>
            <a:pPr rtl="0"/>
            <a:r>
              <a:rPr lang="es-ES" dirty="0"/>
              <a:t>Cada entidad de un diagrama entidad-relación debería tener un almacén de datos. </a:t>
            </a:r>
          </a:p>
          <a:p>
            <a:pPr rtl="0"/>
            <a:r>
              <a:rPr lang="es-ES" dirty="0"/>
              <a:t>Representan la sincronización entre el modelo de procesos y el modelo de datos</a:t>
            </a:r>
          </a:p>
        </p:txBody>
      </p:sp>
      <p:cxnSp>
        <p:nvCxnSpPr>
          <p:cNvPr id="11" name="Conector recto 10" descr="Línea divisoria de la diapositiva">
            <a:extLst>
              <a:ext uri="{FF2B5EF4-FFF2-40B4-BE49-F238E27FC236}">
                <a16:creationId xmlns:a16="http://schemas.microsoft.com/office/drawing/2014/main" id="{680957FA-06D6-100A-7FF1-68198AB8E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 descr="Barra de énfasis derecha&#10;">
            <a:extLst>
              <a:ext uri="{FF2B5EF4-FFF2-40B4-BE49-F238E27FC236}">
                <a16:creationId xmlns:a16="http://schemas.microsoft.com/office/drawing/2014/main" id="{5C090AEE-0DC6-8804-9400-23CDC5E49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30D0376-7D4D-6FE3-E011-D78794380C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2236242"/>
            <a:ext cx="5472000" cy="358775"/>
          </a:xfrm>
        </p:spPr>
        <p:txBody>
          <a:bodyPr rtlCol="0"/>
          <a:lstStyle/>
          <a:p>
            <a:pPr rtl="0"/>
            <a:r>
              <a:rPr lang="es-ES" sz="2000" dirty="0"/>
              <a:t>Tipos de información que almacenan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4213CA4-5D89-3D7E-243B-5874EFC0DE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1" y="2802234"/>
            <a:ext cx="6096000" cy="3569117"/>
          </a:xfrm>
        </p:spPr>
        <p:txBody>
          <a:bodyPr rtlCol="0"/>
          <a:lstStyle/>
          <a:p>
            <a:pPr rtl="0"/>
            <a:r>
              <a:rPr lang="es-MX" dirty="0"/>
              <a:t>Personas: CLIENTE, EMPLEADO, PROVEEDOR, ESTUDIANTE.</a:t>
            </a:r>
          </a:p>
          <a:p>
            <a:pPr rtl="0"/>
            <a:r>
              <a:rPr lang="es-MX" dirty="0"/>
              <a:t>Lugares: REGIÓN DE VENTAS, CAMPUS, OFICINA REGIONAL.</a:t>
            </a:r>
          </a:p>
          <a:p>
            <a:pPr rtl="0"/>
            <a:r>
              <a:rPr lang="es-MX" dirty="0"/>
              <a:t>Objetos: PRODUCTO, VEHÍCULO, LIBRO, SOFTWARE.</a:t>
            </a:r>
          </a:p>
          <a:p>
            <a:pPr rtl="0"/>
            <a:r>
              <a:rPr lang="es-MX" dirty="0"/>
              <a:t>Eventos: FACTURA, ORDEN, INSCRIPCIÓN, VENTA, VIAJE.</a:t>
            </a:r>
          </a:p>
          <a:p>
            <a:pPr rtl="0"/>
            <a:r>
              <a:rPr lang="es-MX" dirty="0"/>
              <a:t>Conceptos: CUENTA, CURSO, EXISTENCIAS, FONDO.</a:t>
            </a:r>
            <a:endParaRPr lang="es-ES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02EA38A3-A234-E3C1-F0F5-CB1E387AFCB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5328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DF90D-AFA3-6DB3-9D70-E8FC440BE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10" descr="Escritorio con un ordenador, un teléfono, libros, etc.">
            <a:extLst>
              <a:ext uri="{FF2B5EF4-FFF2-40B4-BE49-F238E27FC236}">
                <a16:creationId xmlns:a16="http://schemas.microsoft.com/office/drawing/2014/main" id="{136097F8-8839-0518-4850-2D8150E5BE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14138979-33C9-0EBE-1A2F-C87A83226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700" y="552113"/>
            <a:ext cx="5956300" cy="1100565"/>
          </a:xfrm>
        </p:spPr>
        <p:txBody>
          <a:bodyPr rtlCol="0"/>
          <a:lstStyle/>
          <a:p>
            <a:pPr algn="ctr"/>
            <a:r>
              <a:rPr lang="es-NI" sz="5400" dirty="0"/>
              <a:t>Conclusión</a:t>
            </a:r>
            <a:endParaRPr lang="es-ES" sz="5200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AA27930E-D5E3-824F-2856-40F4E180DF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5700" y="1652678"/>
            <a:ext cx="5956300" cy="4718673"/>
          </a:xfrm>
        </p:spPr>
        <p:txBody>
          <a:bodyPr rtlCol="0"/>
          <a:lstStyle/>
          <a:p>
            <a:pPr algn="l" rtl="0"/>
            <a:r>
              <a:rPr lang="es-MX" dirty="0"/>
              <a:t>Los almacenes de datos son datos estáticos frente a los flujos de datos en movimiento.</a:t>
            </a:r>
          </a:p>
          <a:p>
            <a:pPr algn="l" rtl="0"/>
            <a:r>
              <a:rPr lang="es-MX" dirty="0"/>
              <a:t>Su identificación depende del orden de modelado:</a:t>
            </a:r>
          </a:p>
          <a:p>
            <a:pPr algn="l" rtl="0"/>
            <a:r>
              <a:rPr lang="es-MX" dirty="0"/>
              <a:t>Si se modelan datos primero → más fácil y directo.</a:t>
            </a:r>
          </a:p>
          <a:p>
            <a:pPr algn="l" rtl="0"/>
            <a:r>
              <a:rPr lang="es-MX" dirty="0"/>
              <a:t>Si se modelan procesos primero → descubrimiento más arbitrario.</a:t>
            </a:r>
          </a:p>
          <a:p>
            <a:pPr algn="l" rtl="0"/>
            <a:r>
              <a:rPr lang="es-MX" dirty="0"/>
              <a:t>Son esenciales para representar la información que el negocio necesita conservar.</a:t>
            </a:r>
          </a:p>
          <a:p>
            <a:pPr algn="l" rtl="0"/>
            <a:r>
              <a:rPr lang="es-MX" dirty="0"/>
              <a:t>Una correcta denominación y ubicación asegura claridad y consistencia en el DFD.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A70080-5F18-C60D-7C69-CB747BD4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286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57106-0510-4FE6-BF48-DDC259F6A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12BA371-3099-163B-E262-85DED10C1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0" y="1876926"/>
            <a:ext cx="4903599" cy="2237700"/>
          </a:xfrm>
        </p:spPr>
        <p:txBody>
          <a:bodyPr rtlCol="0"/>
          <a:lstStyle/>
          <a:p>
            <a:pPr rtl="0"/>
            <a:r>
              <a:rPr lang="es-MX" sz="5200" dirty="0"/>
              <a:t>Título: Resumen de la página 197</a:t>
            </a:r>
            <a:endParaRPr lang="es-ES" sz="5200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377D1F4A-F3E9-A4AD-94F8-14159FF9A5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01898" y="1876924"/>
            <a:ext cx="6985301" cy="2237700"/>
          </a:xfrm>
        </p:spPr>
        <p:txBody>
          <a:bodyPr rtlCol="0"/>
          <a:lstStyle/>
          <a:p>
            <a:pPr rtl="0"/>
            <a:r>
              <a:rPr lang="es-MX" sz="1400" dirty="0"/>
              <a:t>Introducción</a:t>
            </a:r>
          </a:p>
          <a:p>
            <a:pPr rtl="0"/>
            <a:r>
              <a:rPr lang="es-MX" sz="1400" dirty="0"/>
              <a:t>Los procesos son bloques constructivos fundamentales de los sistemas de información.</a:t>
            </a:r>
          </a:p>
          <a:p>
            <a:pPr rtl="0"/>
            <a:r>
              <a:rPr lang="es-MX" sz="1400" dirty="0"/>
              <a:t> datos en información útil en respuesta a condiciones y eventos del negocio.</a:t>
            </a:r>
          </a:p>
          <a:p>
            <a:pPr rtl="0"/>
            <a:r>
              <a:rPr lang="es-MX" sz="1400" dirty="0"/>
              <a:t>Un sistema puede entenderse como un proceso global que recibe entradas, produce salidas y se adapta a su ambiente mediante retroalimentación.</a:t>
            </a:r>
          </a:p>
          <a:p>
            <a:pPr rtl="0"/>
            <a:r>
              <a:rPr lang="es-MX" sz="1400" dirty="0"/>
              <a:t>Ejemplo: un negocio como sistema → entradas (materiales, empleados, dinero) y salidas (productos, servicios, pagos, desechos).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4D44B3-0ADE-C22C-8DCC-085CF6C2E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Marcador de texto 9">
            <a:extLst>
              <a:ext uri="{FF2B5EF4-FFF2-40B4-BE49-F238E27FC236}">
                <a16:creationId xmlns:a16="http://schemas.microsoft.com/office/drawing/2014/main" id="{794F2584-CC08-A1BA-7F97-7DEE18A43778}"/>
              </a:ext>
            </a:extLst>
          </p:cNvPr>
          <p:cNvSpPr txBox="1">
            <a:spLocks/>
          </p:cNvSpPr>
          <p:nvPr/>
        </p:nvSpPr>
        <p:spPr>
          <a:xfrm>
            <a:off x="0" y="4114625"/>
            <a:ext cx="4902200" cy="1100565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667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29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096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763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Subtítulo: Conceptos de procesos y descomposición den sistemas de información.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2582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57AFA-2746-2D9A-7690-1C6FE25ED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49CDF-E5C0-5183-AF65-90D1F372D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26376"/>
            <a:ext cx="11340000" cy="432000"/>
          </a:xfrm>
        </p:spPr>
        <p:txBody>
          <a:bodyPr rtlCol="0"/>
          <a:lstStyle/>
          <a:p>
            <a:pPr rtl="0"/>
            <a:r>
              <a:rPr lang="es-ES" dirty="0"/>
              <a:t>Desarrollo</a:t>
            </a:r>
          </a:p>
        </p:txBody>
      </p:sp>
      <p:sp>
        <p:nvSpPr>
          <p:cNvPr id="12" name="Rectángulo 11" descr="Bloque de énfasis izquierdo">
            <a:extLst>
              <a:ext uri="{FF2B5EF4-FFF2-40B4-BE49-F238E27FC236}">
                <a16:creationId xmlns:a16="http://schemas.microsoft.com/office/drawing/2014/main" id="{5ED59B41-31A0-48AE-3F96-89762F3DB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995578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0043F33-6FDB-0BFE-2F93-BEA84745A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403" y="1576683"/>
            <a:ext cx="5010150" cy="4137808"/>
          </a:xfrm>
        </p:spPr>
        <p:txBody>
          <a:bodyPr rtlCol="0"/>
          <a:lstStyle/>
          <a:p>
            <a:pPr rtl="0"/>
            <a:r>
              <a:rPr lang="es-ES" b="1" dirty="0"/>
              <a:t>Representación de procesos en DFD:</a:t>
            </a:r>
          </a:p>
          <a:p>
            <a:pPr rtl="0"/>
            <a:r>
              <a:rPr lang="es-ES" dirty="0"/>
              <a:t>Rectángulo redondeado.</a:t>
            </a:r>
          </a:p>
          <a:p>
            <a:pPr rtl="0"/>
            <a:r>
              <a:rPr lang="es-ES" dirty="0"/>
              <a:t>Circulo.</a:t>
            </a:r>
          </a:p>
          <a:p>
            <a:pPr rtl="0"/>
            <a:r>
              <a:rPr lang="es-ES" dirty="0"/>
              <a:t>Rectángulo.</a:t>
            </a:r>
          </a:p>
          <a:p>
            <a:pPr rtl="0"/>
            <a:endParaRPr lang="es-ES" dirty="0"/>
          </a:p>
          <a:p>
            <a:pPr rtl="0"/>
            <a:r>
              <a:rPr lang="es-ES" b="1" dirty="0"/>
              <a:t>Proceso lógico, vs proceso físico:</a:t>
            </a:r>
          </a:p>
          <a:p>
            <a:pPr rtl="0"/>
            <a:r>
              <a:rPr lang="es-ES" dirty="0"/>
              <a:t>Lógico = que acción se realiza.</a:t>
            </a:r>
          </a:p>
          <a:p>
            <a:pPr rtl="0"/>
            <a:r>
              <a:rPr lang="es-ES" dirty="0"/>
              <a:t>Físico = como se implementa.</a:t>
            </a:r>
          </a:p>
        </p:txBody>
      </p:sp>
      <p:cxnSp>
        <p:nvCxnSpPr>
          <p:cNvPr id="11" name="Conector recto 10" descr="Línea divisoria de la diapositiva">
            <a:extLst>
              <a:ext uri="{FF2B5EF4-FFF2-40B4-BE49-F238E27FC236}">
                <a16:creationId xmlns:a16="http://schemas.microsoft.com/office/drawing/2014/main" id="{7AA9368B-47C2-20F2-08D1-D8D847E54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 descr="Barra de énfasis derecha&#10;">
            <a:extLst>
              <a:ext uri="{FF2B5EF4-FFF2-40B4-BE49-F238E27FC236}">
                <a16:creationId xmlns:a16="http://schemas.microsoft.com/office/drawing/2014/main" id="{9CB4D508-E5F2-B52E-4216-ADF0C739A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995578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A4DDBEA-1DE0-033B-0F1E-1B6E82E46B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887" y="1502896"/>
            <a:ext cx="5472113" cy="3569117"/>
          </a:xfrm>
        </p:spPr>
        <p:txBody>
          <a:bodyPr rtlCol="0"/>
          <a:lstStyle/>
          <a:p>
            <a:pPr rtl="0"/>
            <a:r>
              <a:rPr lang="es-ES" b="1" dirty="0"/>
              <a:t>Descomposición de procesos:</a:t>
            </a:r>
          </a:p>
          <a:p>
            <a:pPr rtl="0"/>
            <a:r>
              <a:rPr lang="es-ES" dirty="0"/>
              <a:t>Técnica para dividir un sistema complejo en subsistemas, procesos y subprocesos.</a:t>
            </a:r>
          </a:p>
          <a:p>
            <a:pPr rtl="0"/>
            <a:r>
              <a:rPr lang="es-ES" dirty="0"/>
              <a:t>Facilita la comunicación, el análisis y el diseño.</a:t>
            </a:r>
          </a:p>
          <a:p>
            <a:pPr rtl="0"/>
            <a:r>
              <a:rPr lang="es-ES" dirty="0"/>
              <a:t>Ejemplo: dividir un programa en subprograma manejable</a:t>
            </a:r>
          </a:p>
          <a:p>
            <a:pPr rtl="0"/>
            <a:endParaRPr lang="es-ES" dirty="0"/>
          </a:p>
          <a:p>
            <a:pPr marL="0" indent="0" rtl="0">
              <a:buNone/>
            </a:pPr>
            <a:r>
              <a:rPr lang="es-ES" dirty="0"/>
              <a:t>Diagramas de descomposición (graficas de jerarquía)</a:t>
            </a:r>
          </a:p>
          <a:p>
            <a:pPr rtl="0"/>
            <a:r>
              <a:rPr lang="es-ES" dirty="0"/>
              <a:t>Muestra la estructura funcional de arriba hacia abajo.</a:t>
            </a:r>
          </a:p>
          <a:p>
            <a:pPr rtl="0"/>
            <a:r>
              <a:rPr lang="es-ES" dirty="0"/>
              <a:t>Son herramientas de planificación para modelos mas detallados(DFD).</a:t>
            </a:r>
          </a:p>
          <a:p>
            <a:pPr rtl="0"/>
            <a:r>
              <a:rPr lang="es-ES" dirty="0"/>
              <a:t>Reglas:</a:t>
            </a:r>
          </a:p>
          <a:p>
            <a:pPr lvl="1"/>
            <a:r>
              <a:rPr lang="es-ES" dirty="0"/>
              <a:t>Un proceso padre debe tener &gt;= 2 hijos.</a:t>
            </a:r>
          </a:p>
          <a:p>
            <a:pPr lvl="1"/>
            <a:r>
              <a:rPr lang="es-ES" dirty="0"/>
              <a:t>Un hijo solo puede tener un padre.</a:t>
            </a:r>
          </a:p>
          <a:p>
            <a:pPr lvl="1"/>
            <a:r>
              <a:rPr lang="es-ES" dirty="0"/>
              <a:t>Un hijo puede convertirse en padre de otros procesos.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E8B025D3-9532-3B39-30B6-A307FC7F69A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7175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151C0-9A46-2D34-8942-F8BB931E7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10" descr="Escritorio con un ordenador, un teléfono, libros, etc.">
            <a:extLst>
              <a:ext uri="{FF2B5EF4-FFF2-40B4-BE49-F238E27FC236}">
                <a16:creationId xmlns:a16="http://schemas.microsoft.com/office/drawing/2014/main" id="{0C536D43-C7DB-C9A3-7875-2611BD4F106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64873955-85AB-3CEA-B253-E5BB6066F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700" y="2204792"/>
            <a:ext cx="5956300" cy="1100565"/>
          </a:xfrm>
        </p:spPr>
        <p:txBody>
          <a:bodyPr rtlCol="0"/>
          <a:lstStyle/>
          <a:p>
            <a:pPr algn="ctr"/>
            <a:r>
              <a:rPr lang="es-NI" sz="5400" dirty="0"/>
              <a:t>Conclusión</a:t>
            </a:r>
            <a:endParaRPr lang="es-ES" sz="5200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9A01F893-66EC-2903-BEBB-D416C5327A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5700" y="3305357"/>
            <a:ext cx="5956300" cy="2597731"/>
          </a:xfrm>
        </p:spPr>
        <p:txBody>
          <a:bodyPr rtlCol="0"/>
          <a:lstStyle/>
          <a:p>
            <a:pPr algn="l" rtl="0"/>
            <a:r>
              <a:rPr lang="es-ES" dirty="0"/>
              <a:t>Los procesos son el núcleo de los sistemas de información.</a:t>
            </a:r>
          </a:p>
          <a:p>
            <a:pPr algn="l" rtl="0"/>
            <a:r>
              <a:rPr lang="es-ES" dirty="0"/>
              <a:t>La descomposición permite manejar la complejidad dividiendo el sistema en partes mas pequeñas.</a:t>
            </a:r>
          </a:p>
          <a:p>
            <a:pPr algn="l" rtl="0"/>
            <a:r>
              <a:rPr lang="es-ES" dirty="0"/>
              <a:t>Los diagramas de descomposición muestran la estructura jerárquica de procesos, no el flujo de datos.</a:t>
            </a:r>
          </a:p>
          <a:p>
            <a:pPr algn="l" rtl="0"/>
            <a:r>
              <a:rPr lang="es-ES" dirty="0"/>
              <a:t>Esta técnica prepara el terreno para construir DFD mas detallados y precios.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258BBCC-4746-5FF1-1134-0B6C6D0C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6025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Marcador de posición de imagen 31" descr="manos aplaudiendo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674"/>
            <a:ext cx="9780102" cy="6804025"/>
          </a:xfrm>
        </p:spPr>
      </p:pic>
      <p:sp>
        <p:nvSpPr>
          <p:cNvPr id="14" name="Título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sz="5200" dirty="0"/>
              <a:t>Gracias por su atención.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750_TF16411250.potx" id="{675E8371-EC70-4345-8B64-A71003B56298}" vid="{0F92AA19-00D6-4C71-B13F-219D7994A0B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3618a58-e77e-4815-be7a-4b457870ef6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9EE9C2000E3C49BAAF240643ED3F80" ma:contentTypeVersion="15" ma:contentTypeDescription="Create a new document." ma:contentTypeScope="" ma:versionID="eaba0ea6fb42edefb9401bfff6c3d42d">
  <xsd:schema xmlns:xsd="http://www.w3.org/2001/XMLSchema" xmlns:xs="http://www.w3.org/2001/XMLSchema" xmlns:p="http://schemas.microsoft.com/office/2006/metadata/properties" xmlns:ns3="53618a58-e77e-4815-be7a-4b457870ef69" xmlns:ns4="02248b9c-6807-4a99-bae8-63a1ce543b00" targetNamespace="http://schemas.microsoft.com/office/2006/metadata/properties" ma:root="true" ma:fieldsID="e402d70e2803f3a35f7e91e50dd7f968" ns3:_="" ns4:_="">
    <xsd:import namespace="53618a58-e77e-4815-be7a-4b457870ef69"/>
    <xsd:import namespace="02248b9c-6807-4a99-bae8-63a1ce543b0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618a58-e77e-4815-be7a-4b457870ef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248b9c-6807-4a99-bae8-63a1ce543b0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2218FC-8412-44B9-9E82-D51F1F531141}">
  <ds:schemaRefs>
    <ds:schemaRef ds:uri="http://purl.org/dc/dcmitype/"/>
    <ds:schemaRef ds:uri="http://www.w3.org/XML/1998/namespace"/>
    <ds:schemaRef ds:uri="02248b9c-6807-4a99-bae8-63a1ce543b00"/>
    <ds:schemaRef ds:uri="http://schemas.microsoft.com/office/2006/metadata/properties"/>
    <ds:schemaRef ds:uri="http://schemas.microsoft.com/office/2006/documentManagement/types"/>
    <ds:schemaRef ds:uri="53618a58-e77e-4815-be7a-4b457870ef69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73EEA25-5B00-4589-AF59-212EACADCF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618a58-e77e-4815-be7a-4b457870ef69"/>
    <ds:schemaRef ds:uri="02248b9c-6807-4a99-bae8-63a1ce543b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4DC8446-6099-4707-8472-043351D729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{54BBAAFF-20CE-42D8-9A55-CF6BEE46A20D}TF992e0334-4647-4579-8d14-183019b0908cc11ea5a0_win32-8afc8497b335</Template>
  <TotalTime>229</TotalTime>
  <Words>1466</Words>
  <Application>Microsoft Office PowerPoint</Application>
  <PresentationFormat>Panorámica</PresentationFormat>
  <Paragraphs>182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Calibri</vt:lpstr>
      <vt:lpstr>Candara</vt:lpstr>
      <vt:lpstr>Corbel</vt:lpstr>
      <vt:lpstr>Times New Roman</vt:lpstr>
      <vt:lpstr>Personalizado</vt:lpstr>
      <vt:lpstr>Análisis estructurado</vt:lpstr>
      <vt:lpstr>Título: Resumen de la página 193</vt:lpstr>
      <vt:lpstr>Desarrollo</vt:lpstr>
      <vt:lpstr>Conclusión</vt:lpstr>
      <vt:lpstr>Título: Resumen de la página 194</vt:lpstr>
      <vt:lpstr>Desarrollo</vt:lpstr>
      <vt:lpstr>Conclusión</vt:lpstr>
      <vt:lpstr>Título: Resumen de la página 195</vt:lpstr>
      <vt:lpstr>Desarrollo</vt:lpstr>
      <vt:lpstr>Conclusión</vt:lpstr>
      <vt:lpstr>Título: Resumen de la página 196</vt:lpstr>
      <vt:lpstr>Desarrollo</vt:lpstr>
      <vt:lpstr>Conclusión</vt:lpstr>
      <vt:lpstr>Título: Resumen de la página 197</vt:lpstr>
      <vt:lpstr>Desarrollo</vt:lpstr>
      <vt:lpstr>Conclusión</vt:lpstr>
      <vt:lpstr>Gracias por su atención.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Moriel Solis</dc:creator>
  <cp:lastModifiedBy>BRENDA QUINTANA</cp:lastModifiedBy>
  <cp:revision>3</cp:revision>
  <dcterms:created xsi:type="dcterms:W3CDTF">2025-11-05T16:20:06Z</dcterms:created>
  <dcterms:modified xsi:type="dcterms:W3CDTF">2025-11-11T19:35:57Z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0x010100C69EE9C2000E3C49BAAF240643ED3F80</vt:lpwstr>
  </property>
</Properties>
</file>