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98" r:id="rId5"/>
    <p:sldId id="283" r:id="rId6"/>
    <p:sldId id="297" r:id="rId7"/>
    <p:sldId id="292" r:id="rId8"/>
    <p:sldId id="293" r:id="rId9"/>
    <p:sldId id="284" r:id="rId10"/>
    <p:sldId id="309" r:id="rId11"/>
    <p:sldId id="310" r:id="rId12"/>
    <p:sldId id="311" r:id="rId13"/>
    <p:sldId id="312" r:id="rId14"/>
    <p:sldId id="313" r:id="rId15"/>
    <p:sldId id="314" r:id="rId16"/>
    <p:sldId id="315" r:id="rId17"/>
    <p:sldId id="316" r:id="rId18"/>
    <p:sldId id="319" r:id="rId19"/>
    <p:sldId id="318" r:id="rId20"/>
    <p:sldId id="296" r:id="rId21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C9A20E-D2DC-4BDD-8B34-08A9890E9FEB}" v="31" dt="2025-11-11T16:56:21.385"/>
  </p1510:revLst>
</p1510:revInfo>
</file>

<file path=ppt/tableStyles.xml><?xml version="1.0" encoding="utf-8"?>
<a:tblStyleLst xmlns:a="http://schemas.openxmlformats.org/drawingml/2006/main" def="{073A0DAA-6AF3-43AB-8588-CEC1D06C72B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574" autoAdjust="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01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0C787AE-A2C6-4A28-BCC7-4D89EB21DEE5}" type="datetime1">
              <a:rPr lang="es-ES" smtClean="0"/>
              <a:t>11/11/2025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BDA65D4-3BBC-4853-83D3-F449A9B7FDA5}" type="datetime1">
              <a:rPr lang="es-ES" noProof="0" smtClean="0"/>
              <a:t>11/11/2025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530193B-564F-4854-8A52-728F3FB19C8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0701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2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106624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6282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4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052430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5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050067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6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07180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F37AC-BE3B-8210-989E-C2282C6D2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97B1071-F131-EEA3-16D1-1917F2A17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E084525-631D-1693-3C4B-520FF1167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4934CC0-CE59-1CC3-50B7-B13A213857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84134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0B11A-A0EC-5CB3-D78A-7468F3312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29EA14E-6E1E-0089-F196-C6AD71A63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4CB70D-6C0C-A4A7-628F-5F75F9C1B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04F717C-5A2E-46FA-A63D-987DBF53AD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8581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033A8-AFAF-CA43-FD9D-07D9948BB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30E9AAA-A85B-E95D-A836-5E7B2AD83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0298C3E-6B42-DF03-55A9-FC966552AC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C38B22-824C-3D1B-8899-438C2CD599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38296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5584F-C1AC-C9F3-92FC-B87270475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B03DEDC-1904-AE58-4C71-9BCE12C88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A376BE-90CB-FED2-B3A6-BDC45F99B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1AF344-9D6F-4A09-7FF1-513C6C55C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0314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67F99-50DD-B89C-FDFA-1EC2FA24D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E7418C3-8DDD-BAAE-4FA1-31307EBEE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FAEF813-CB2A-7931-0EA0-A8F1C69C1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49E00F-C54D-D39E-F776-79C5729664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7346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3A2AF-32DE-7E02-45C2-4B6107B2F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A8AAF07-F259-D02F-E3F9-C26C2BB0B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6F594A1-CC5F-75FB-615C-577A2FF30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5F0802B-FF1D-F84A-B28C-8FE2F22784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01849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BB9A8-3227-85C0-3DD6-BAF41B0A9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CE83B89-3896-61BB-78A5-A20ACE5CE5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49BD6C9-7957-C776-7C64-477AB2AD1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C950D3-40B9-ECD1-9115-B7AF14DE57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626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77A37-7256-2750-40AF-4676160B1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6B6EF2-E4B6-81F7-BBFA-81CDA44863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B53CABF-9211-30D3-AD50-EA97315A1B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7B6B0CF-2F0E-1A99-6FA7-E03F33F64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31379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B043-3F93-6DD7-E429-2080752B4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5136820-75B5-3006-0FCF-CCE0BF73C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8CF355C-1EB9-D96E-926C-0E50151C38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8A51F8-136D-FF18-11EA-B9EC66BBBC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891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B8151-3F4F-6C18-901E-B6340E43B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28CD5EA-CB4C-90EB-E89A-104B165E3D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D4A84E4-6817-F761-9B73-6E364DA786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45F92A-8857-DA8C-5575-67D221477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530193B-564F-4854-8A52-728F3FB19C85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10974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530193B-564F-4854-8A52-728F3FB19C85}" type="slidenum">
              <a:rPr lang="es-ES" noProof="0" smtClean="0"/>
              <a:t>17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39131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del título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804025"/>
          </a:xfrm>
          <a:solidFill>
            <a:schemeClr val="bg1">
              <a:lumMod val="85000"/>
            </a:schemeClr>
          </a:solidFill>
        </p:spPr>
        <p:txBody>
          <a:bodyPr tIns="1728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2811053"/>
            <a:ext cx="8991600" cy="1261295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7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el 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00400" y="4061039"/>
            <a:ext cx="6580188" cy="580921"/>
          </a:xfrm>
          <a:solidFill>
            <a:schemeClr val="tx1">
              <a:alpha val="80000"/>
            </a:schemeClr>
          </a:solidFill>
        </p:spPr>
        <p:txBody>
          <a:bodyPr vert="horz" lIns="180000" tIns="180000" rIns="180000" bIns="180000" rtlCol="0">
            <a:noAutofit/>
          </a:bodyPr>
          <a:lstStyle>
            <a:lvl1pPr marL="0" indent="0" algn="r">
              <a:buNone/>
              <a:defRPr lang="en-ZA" dirty="0">
                <a:solidFill>
                  <a:schemeClr val="bg1"/>
                </a:solidFill>
              </a:defRPr>
            </a:lvl1pPr>
          </a:lstStyle>
          <a:p>
            <a:pPr marL="266700" lvl="0" indent="-266700" algn="ctr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269861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35700" y="2204792"/>
            <a:ext cx="5956300" cy="1944000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lnSpc>
                <a:spcPct val="90000"/>
              </a:lnSpc>
              <a:defRPr lang="en-ZA" sz="3800" b="1" spc="-300" dirty="0"/>
            </a:lvl1pPr>
          </a:lstStyle>
          <a:p>
            <a:pPr lvl="0" algn="r"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5700" y="41488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180000" tIns="180000" rIns="252000" bIns="180000" rtlCol="0"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9780588" y="5247782"/>
            <a:ext cx="2411412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37159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visoria 2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411412" y="0"/>
            <a:ext cx="9780588" cy="6371351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</a:t>
            </a:r>
            <a:br>
              <a:rPr lang="es-ES" noProof="0"/>
            </a:br>
            <a:r>
              <a:rPr lang="es-ES" noProof="0"/>
              <a:t>su foto aquí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73AB13-DFF9-4538-9907-E261659E0E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700" y="2156226"/>
            <a:ext cx="5958000" cy="1958400"/>
          </a:xfrm>
          <a:solidFill>
            <a:schemeClr val="bg1"/>
          </a:solidFill>
        </p:spPr>
        <p:txBody>
          <a:bodyPr lIns="252000" tIns="180000" rIns="180000" bIns="180000" rtlCol="0"/>
          <a:lstStyle>
            <a:lvl1pPr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s-ES" noProof="0" dirty="0"/>
              <a:t>Haga clic para editar la línea divisoria de sección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9E4D4535-D519-40ED-B8A4-2EA1276BB6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10760"/>
            <a:ext cx="5956300" cy="1100565"/>
          </a:xfrm>
          <a:solidFill>
            <a:schemeClr val="tx1">
              <a:alpha val="80000"/>
            </a:schemeClr>
          </a:solidFill>
        </p:spPr>
        <p:txBody>
          <a:bodyPr lIns="252000" tIns="180000" rIns="180000" bIns="180000" rtlCol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266700" indent="0" algn="r">
              <a:buNone/>
              <a:defRPr sz="1800">
                <a:solidFill>
                  <a:schemeClr val="bg1"/>
                </a:solidFill>
              </a:defRPr>
            </a:lvl2pPr>
            <a:lvl3pPr marL="542925" indent="0" algn="r">
              <a:buNone/>
              <a:defRPr sz="1800">
                <a:solidFill>
                  <a:schemeClr val="bg1"/>
                </a:solidFill>
              </a:defRPr>
            </a:lvl3pPr>
            <a:lvl4pPr marL="809625" indent="0" algn="r">
              <a:buNone/>
              <a:defRPr sz="1800">
                <a:solidFill>
                  <a:schemeClr val="bg1"/>
                </a:solidFill>
              </a:defRPr>
            </a:lvl4pPr>
            <a:lvl5pPr marL="1076325" indent="0" algn="r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16FE98-6A12-44EC-8485-8B5EFABDF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0" y="5209682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50EF489-F21B-4E7C-9A44-D3CC8DC34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282858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11800" y="3802899"/>
            <a:ext cx="4648200" cy="985000"/>
          </a:xfrm>
          <a:solidFill>
            <a:schemeClr val="bg1"/>
          </a:solidFill>
        </p:spPr>
        <p:txBody>
          <a:bodyPr lIns="180000" tIns="180000" rIns="180000" bIns="180000" rtlCol="0"/>
          <a:lstStyle>
            <a:lvl1pPr algn="r">
              <a:lnSpc>
                <a:spcPct val="7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Edite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1800" y="4787900"/>
            <a:ext cx="4648200" cy="1162800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osición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2668686"/>
            <a:ext cx="5472000" cy="2999426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508F53F-6AA2-4060-904A-BC90211DC043}"/>
              </a:ext>
            </a:extLst>
          </p:cNvPr>
          <p:cNvSpPr/>
          <p:nvPr userDrawn="1"/>
        </p:nvSpPr>
        <p:spPr>
          <a:xfrm>
            <a:off x="9348588" y="3700775"/>
            <a:ext cx="2411412" cy="11482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350103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de la imagen del tex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-1"/>
            <a:ext cx="6096000" cy="6371351"/>
          </a:xfrm>
          <a:solidFill>
            <a:schemeClr val="bg1">
              <a:lumMod val="95000"/>
            </a:schemeClr>
          </a:solidFill>
        </p:spPr>
        <p:txBody>
          <a:bodyPr tIns="1584000" rtlCol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18100" y="1869795"/>
            <a:ext cx="6641900" cy="1124345"/>
          </a:xfrm>
          <a:solidFill>
            <a:schemeClr val="bg1">
              <a:lumMod val="95000"/>
            </a:schemeClr>
          </a:solidFill>
        </p:spPr>
        <p:txBody>
          <a:bodyPr lIns="180000" tIns="180000" rIns="180000" bIns="180000" rtlCol="0"/>
          <a:lstStyle>
            <a:lvl1pPr algn="l">
              <a:lnSpc>
                <a:spcPct val="80000"/>
              </a:lnSpc>
              <a:defRPr sz="3800" b="1" spc="-3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 dirty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3FAEED1D-0E66-4F74-9455-675F5CB7EAD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18334" y="2994141"/>
            <a:ext cx="6641626" cy="590155"/>
          </a:xfrm>
          <a:solidFill>
            <a:schemeClr val="tx1">
              <a:alpha val="80000"/>
            </a:schemeClr>
          </a:solidFill>
        </p:spPr>
        <p:txBody>
          <a:bodyPr lIns="180000" tIns="180000" rIns="180000" bIns="180000" rtlCol="0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288000" y="3763648"/>
            <a:ext cx="5472000" cy="2428351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0505ED12-A431-4761-87A4-F05164BE0221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5285E0-8F27-49C4-AADF-92A3B72D41FD}"/>
              </a:ext>
            </a:extLst>
          </p:cNvPr>
          <p:cNvSpPr/>
          <p:nvPr userDrawn="1"/>
        </p:nvSpPr>
        <p:spPr>
          <a:xfrm>
            <a:off x="9775824" y="1762069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8438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mparación izquierdo 1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32000" y="1515834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000" y="2023668"/>
            <a:ext cx="5472000" cy="4168332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2" name="Marcador de comparación izquierdo 2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00000" y="1516359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8" name="Marcador de posición de texto 4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2020359"/>
            <a:ext cx="5472113" cy="4170891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733E7E-50D2-4F6C-9DF2-CF4C98C4B847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grafí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6">
            <a:extLst>
              <a:ext uri="{FF2B5EF4-FFF2-40B4-BE49-F238E27FC236}">
                <a16:creationId xmlns:a16="http://schemas.microsoft.com/office/drawing/2014/main" id="{890ED7CE-A9D2-4D19-B978-56BFB74E6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"/>
            <a:ext cx="12192000" cy="6371350"/>
          </a:xfrm>
          <a:solidFill>
            <a:schemeClr val="bg1">
              <a:lumMod val="8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096000" y="5359400"/>
            <a:ext cx="5664000" cy="565899"/>
          </a:xfrm>
          <a:solidFill>
            <a:schemeClr val="tx1"/>
          </a:solidFill>
        </p:spPr>
        <p:txBody>
          <a:bodyPr lIns="180000" tIns="180000" rIns="180000" bIns="180000" rtlCol="0" anchor="ctr"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Escriba la leyenda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B3D119C-DBF5-4B4F-BE38-7BD7B5C8A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F8E7C83-06D7-4C5B-85B7-0E5713B4FA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Marcador de posición de imagen 40">
            <a:extLst>
              <a:ext uri="{FF2B5EF4-FFF2-40B4-BE49-F238E27FC236}">
                <a16:creationId xmlns:a16="http://schemas.microsoft.com/office/drawing/2014/main" id="{EB7F0EE8-BE52-4A79-8FC8-4A2487FA01F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780102" cy="6804025"/>
          </a:xfrm>
          <a:solidFill>
            <a:schemeClr val="bg1">
              <a:lumMod val="85000"/>
            </a:schemeClr>
          </a:solidFill>
        </p:spPr>
        <p:txBody>
          <a:bodyPr tIns="0" rtlCol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es-ES" noProof="0"/>
              <a:t>Inserte o arrastre y coloque su foto aquí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58200" y="2798354"/>
            <a:ext cx="3733800" cy="1013684"/>
          </a:xfrm>
          <a:solidFill>
            <a:schemeClr val="bg1"/>
          </a:solidFill>
        </p:spPr>
        <p:txBody>
          <a:bodyPr vert="horz" lIns="180000" tIns="180000" rIns="252000" bIns="180000" rtlCol="0" anchor="t">
            <a:noAutofit/>
          </a:bodyPr>
          <a:lstStyle>
            <a:lvl1pPr algn="r">
              <a:defRPr lang="en-ZA" sz="4400" b="1" spc="-300" dirty="0"/>
            </a:lvl1pPr>
          </a:lstStyle>
          <a:p>
            <a:pPr lvl="0" algn="r" rtl="0"/>
            <a:r>
              <a:rPr lang="es-ES" noProof="0"/>
              <a:t>Gracias</a:t>
            </a:r>
          </a:p>
        </p:txBody>
      </p:sp>
      <p:sp>
        <p:nvSpPr>
          <p:cNvPr id="9" name="Marcador de texto 5">
            <a:extLst>
              <a:ext uri="{FF2B5EF4-FFF2-40B4-BE49-F238E27FC236}">
                <a16:creationId xmlns:a16="http://schemas.microsoft.com/office/drawing/2014/main" id="{52FA7FC9-E40E-4144-84E4-34E3722E9A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58200" y="3957705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 dirty="0"/>
              <a:t>Nombre completo</a:t>
            </a:r>
          </a:p>
        </p:txBody>
      </p:sp>
      <p:sp>
        <p:nvSpPr>
          <p:cNvPr id="10" name="Marcador de texto 6">
            <a:extLst>
              <a:ext uri="{FF2B5EF4-FFF2-40B4-BE49-F238E27FC236}">
                <a16:creationId xmlns:a16="http://schemas.microsoft.com/office/drawing/2014/main" id="{97289182-4FE6-4A18-9775-4588D5801C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8200" y="4306722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Número de teléfono</a:t>
            </a:r>
          </a:p>
        </p:txBody>
      </p:sp>
      <p:sp>
        <p:nvSpPr>
          <p:cNvPr id="11" name="Marcador de texto 7">
            <a:extLst>
              <a:ext uri="{FF2B5EF4-FFF2-40B4-BE49-F238E27FC236}">
                <a16:creationId xmlns:a16="http://schemas.microsoft.com/office/drawing/2014/main" id="{BD4E94C7-6CAF-4FEE-9E02-D3D3A2AC5EA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58200" y="4655739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Identificador de red social o correo electrónico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0DE421A3-3C59-48FC-BC3B-007ADFBEB4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458200" y="5004756"/>
            <a:ext cx="2910342" cy="316800"/>
          </a:xfrm>
          <a:solidFill>
            <a:schemeClr val="tx1">
              <a:lumMod val="75000"/>
              <a:lumOff val="25000"/>
            </a:schemeClr>
          </a:solidFill>
        </p:spPr>
        <p:txBody>
          <a:bodyPr rIns="72000" rtlCol="0" anchor="ctr"/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Sitio web de la empresa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504A767-1C0B-484E-BF7D-CD42D30A52EE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A13D8A8-6C3D-4527-959D-41C3213F7F0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C0FBB1B-4F0E-4365-BF27-3150FC6C3B90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1DD44D8-4A8F-4693-B90A-166855B29D25}"/>
              </a:ext>
            </a:extLst>
          </p:cNvPr>
          <p:cNvSpPr/>
          <p:nvPr userDrawn="1"/>
        </p:nvSpPr>
        <p:spPr>
          <a:xfrm>
            <a:off x="8458200" y="2685912"/>
            <a:ext cx="3733800" cy="1148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2FB6A7-1E80-487C-93E6-DCAA8751EF2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049663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97A9A62-1AA6-47A9-A1A0-54196823744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C8DE0AAD-6FBD-416B-A91A-21F2B737919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7DEBF36F-ADC5-48FF-BFAF-3BED06924FD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32000" y="1512000"/>
            <a:ext cx="5472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99887" y="1511250"/>
            <a:ext cx="5472113" cy="468000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F64CFC6C-1D8B-46C9-B0F7-A8BD88D8AB46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9" name="Subtítulo 2">
            <a:extLst>
              <a:ext uri="{FF2B5EF4-FFF2-40B4-BE49-F238E27FC236}">
                <a16:creationId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360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01550" y="1511476"/>
            <a:ext cx="3600450" cy="4679249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1" name="Marcador de texto 5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71550" y="1511475"/>
            <a:ext cx="3600450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a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10" name="Subtítulo 2">
            <a:extLst>
              <a:ext uri="{FF2B5EF4-FFF2-40B4-BE49-F238E27FC236}">
                <a16:creationId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512000"/>
            <a:ext cx="2160000" cy="467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6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3" name="Marcador de texto 5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21412" y="1512000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5" name="Marcador de texto 6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16412" y="1507535"/>
            <a:ext cx="2160588" cy="4679250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17" name="Marcador de texto 7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11412" y="1507535"/>
            <a:ext cx="2160588" cy="4683715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9ABD5E-B8F1-4246-B167-09138760AD7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es-ES" noProof="0"/>
              <a:t>Subtítulo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53CF994-8B2C-443F-B695-7378DD360DAA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ie de página 1">
            <a:extLst>
              <a:ext uri="{FF2B5EF4-FFF2-40B4-BE49-F238E27FC236}">
                <a16:creationId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5CDFA7-DEA3-4BBE-8D70-0AF654A1E6F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0694D9D-C633-4D52-965E-E5BBD98830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es-ES" noProof="0"/>
              <a:t>Haga clic para editar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3EB0D177-9AA4-42F4-9CD7-CD206217CA6D}"/>
              </a:ext>
            </a:extLst>
          </p:cNvPr>
          <p:cNvSpPr/>
          <p:nvPr userDrawn="1"/>
        </p:nvSpPr>
        <p:spPr>
          <a:xfrm>
            <a:off x="9780101" y="6371351"/>
            <a:ext cx="1979897" cy="431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C825DB53-D610-4A40-AFDC-EBC47DB613CE}"/>
              </a:ext>
            </a:extLst>
          </p:cNvPr>
          <p:cNvSpPr/>
          <p:nvPr userDrawn="1"/>
        </p:nvSpPr>
        <p:spPr>
          <a:xfrm>
            <a:off x="9780103" y="6803351"/>
            <a:ext cx="1979897" cy="546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C2B9A6A4-83D0-40B1-8B15-964C84BF0705}"/>
              </a:ext>
            </a:extLst>
          </p:cNvPr>
          <p:cNvSpPr/>
          <p:nvPr userDrawn="1"/>
        </p:nvSpPr>
        <p:spPr>
          <a:xfrm>
            <a:off x="0" y="6371351"/>
            <a:ext cx="9780102" cy="432000"/>
          </a:xfrm>
          <a:custGeom>
            <a:avLst/>
            <a:gdLst>
              <a:gd name="connsiteX0" fmla="*/ 0 w 9780102"/>
              <a:gd name="connsiteY0" fmla="*/ 0 h 432000"/>
              <a:gd name="connsiteX1" fmla="*/ 9780102 w 9780102"/>
              <a:gd name="connsiteY1" fmla="*/ 0 h 432000"/>
              <a:gd name="connsiteX2" fmla="*/ 9780102 w 9780102"/>
              <a:gd name="connsiteY2" fmla="*/ 432000 h 432000"/>
              <a:gd name="connsiteX3" fmla="*/ 0 w 9780102"/>
              <a:gd name="connsiteY3" fmla="*/ 432000 h 43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80102" h="432000">
                <a:moveTo>
                  <a:pt x="0" y="0"/>
                </a:moveTo>
                <a:lnTo>
                  <a:pt x="9780102" y="0"/>
                </a:lnTo>
                <a:lnTo>
                  <a:pt x="9780102" y="432000"/>
                </a:lnTo>
                <a:lnTo>
                  <a:pt x="0" y="432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8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es-ES" noProof="0"/>
              <a:t>Haga clic para editar el título de la página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28000" cy="467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439820"/>
            <a:ext cx="5664000" cy="295062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Agregue un pie de página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0000" y="6371351"/>
            <a:ext cx="432000" cy="432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fld id="{19B51A1E-902D-48AF-9020-955120F399B6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4" name="Cuadro de texto 3">
            <a:extLst>
              <a:ext uri="{FF2B5EF4-FFF2-40B4-BE49-F238E27FC236}">
                <a16:creationId xmlns:a16="http://schemas.microsoft.com/office/drawing/2014/main" id="{34FDC6F9-37F9-4E25-AECA-D307B8421C73}"/>
              </a:ext>
            </a:extLst>
          </p:cNvPr>
          <p:cNvSpPr txBox="1"/>
          <p:nvPr userDrawn="1"/>
        </p:nvSpPr>
        <p:spPr>
          <a:xfrm>
            <a:off x="10243100" y="6422491"/>
            <a:ext cx="1053900" cy="38086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r" rtl="0">
              <a:lnSpc>
                <a:spcPts val="1000"/>
              </a:lnSpc>
            </a:pPr>
            <a:r>
              <a:rPr lang="es-ES" sz="2500" b="1" i="0" spc="-100" noProof="0" dirty="0">
                <a:solidFill>
                  <a:schemeClr val="accent1"/>
                </a:solidFill>
                <a:latin typeface="+mj-lt"/>
              </a:rPr>
              <a:t>TREY</a:t>
            </a:r>
            <a:r>
              <a:rPr lang="es-ES" sz="1600" b="1" i="0" spc="-100" noProof="0" dirty="0">
                <a:solidFill>
                  <a:schemeClr val="accent1"/>
                </a:solidFill>
                <a:latin typeface="+mj-lt"/>
              </a:rPr>
              <a:t> </a:t>
            </a:r>
            <a:br>
              <a:rPr lang="es-ES" sz="1600" b="1" i="0" spc="-100" baseline="0" noProof="0" dirty="0">
                <a:solidFill>
                  <a:schemeClr val="accent1"/>
                </a:solidFill>
                <a:latin typeface="+mj-lt"/>
              </a:rPr>
            </a:br>
            <a:r>
              <a:rPr lang="es-ES" sz="1200" b="0" i="0" spc="14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research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4BC39664-EB8B-4A32-915A-D4308F792772}"/>
              </a:ext>
            </a:extLst>
          </p:cNvPr>
          <p:cNvSpPr/>
          <p:nvPr userDrawn="1"/>
        </p:nvSpPr>
        <p:spPr>
          <a:xfrm>
            <a:off x="0" y="6803351"/>
            <a:ext cx="9780104" cy="546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9B49670D-8F18-44A8-B217-67B412095C0D}"/>
              </a:ext>
            </a:extLst>
          </p:cNvPr>
          <p:cNvSpPr/>
          <p:nvPr userDrawn="1"/>
        </p:nvSpPr>
        <p:spPr>
          <a:xfrm>
            <a:off x="11760000" y="6803351"/>
            <a:ext cx="432000" cy="54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030FA059-EC32-4FFF-9673-48849B2FA43A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6371351"/>
            <a:ext cx="12191999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58" r:id="rId4"/>
    <p:sldLayoutId id="2147483666" r:id="rId5"/>
    <p:sldLayoutId id="2147483659" r:id="rId6"/>
    <p:sldLayoutId id="2147483660" r:id="rId7"/>
    <p:sldLayoutId id="2147483664" r:id="rId8"/>
    <p:sldLayoutId id="2147483650" r:id="rId9"/>
    <p:sldLayoutId id="2147483652" r:id="rId10"/>
    <p:sldLayoutId id="2147483656" r:id="rId11"/>
    <p:sldLayoutId id="2147483657" r:id="rId12"/>
    <p:sldLayoutId id="2147483654" r:id="rId13"/>
    <p:sldLayoutId id="2147483655" r:id="rId1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spc="-15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Marcador de posición de imagen 11" descr="Manos que se unen en un círculo">
            <a:extLst>
              <a:ext uri="{FF2B5EF4-FFF2-40B4-BE49-F238E27FC236}">
                <a16:creationId xmlns:a16="http://schemas.microsoft.com/office/drawing/2014/main" id="{AA8A1CBA-9BB5-2246-9F4B-98EAD7C901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0" y="2811053"/>
            <a:ext cx="8991600" cy="1261295"/>
          </a:xfrm>
        </p:spPr>
        <p:txBody>
          <a:bodyPr rtlCol="0"/>
          <a:lstStyle/>
          <a:p>
            <a:pPr algn="ctr" rtl="0"/>
            <a:r>
              <a:rPr lang="es-ES" sz="6000" dirty="0"/>
              <a:t>Análisis estructurado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4061039"/>
            <a:ext cx="6580188" cy="580921"/>
          </a:xfrm>
        </p:spPr>
        <p:txBody>
          <a:bodyPr rtlCol="0"/>
          <a:lstStyle/>
          <a:p>
            <a:r>
              <a:rPr lang="es-MX" sz="1600" dirty="0"/>
              <a:t>Whitten JL, Bentley LD.(2008) Análisis de sistemas. Diseño y Métodos</a:t>
            </a:r>
            <a:r>
              <a:rPr lang="es-MX" dirty="0"/>
              <a:t>.</a:t>
            </a:r>
            <a:endParaRPr lang="es-ES" dirty="0"/>
          </a:p>
        </p:txBody>
      </p:sp>
      <p:sp>
        <p:nvSpPr>
          <p:cNvPr id="51" name="Cuadro de texto 50">
            <a:extLst>
              <a:ext uri="{FF2B5EF4-FFF2-40B4-BE49-F238E27FC236}">
                <a16:creationId xmlns:a16="http://schemas.microsoft.com/office/drawing/2014/main" id="{66C1DE0A-7865-466B-B5D7-781C92357026}"/>
              </a:ext>
            </a:extLst>
          </p:cNvPr>
          <p:cNvSpPr txBox="1"/>
          <p:nvPr/>
        </p:nvSpPr>
        <p:spPr>
          <a:xfrm>
            <a:off x="9955763" y="3962655"/>
            <a:ext cx="2236237" cy="1035590"/>
          </a:xfrm>
          <a:prstGeom prst="rect">
            <a:avLst/>
          </a:prstGeom>
          <a:noFill/>
        </p:spPr>
        <p:txBody>
          <a:bodyPr wrap="square" tIns="108000" bIns="0" rtlCol="0" anchor="ctr">
            <a:spAutoFit/>
          </a:bodyPr>
          <a:lstStyle/>
          <a:p>
            <a:pPr algn="ctr" rtl="0">
              <a:lnSpc>
                <a:spcPts val="1000"/>
              </a:lnSpc>
            </a:pPr>
            <a:r>
              <a:rPr lang="es-ES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Integrantes:</a:t>
            </a:r>
            <a:br>
              <a:rPr lang="es-ES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br>
              <a:rPr lang="es-ES" sz="1400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s-ES" sz="1400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Brandon Altamirano.</a:t>
            </a:r>
            <a:br>
              <a:rPr lang="es-ES" sz="1400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r>
              <a:rPr lang="es-ES" sz="1400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Ismael Martinez.</a:t>
            </a:r>
          </a:p>
          <a:p>
            <a:pPr algn="ctr" rtl="0">
              <a:lnSpc>
                <a:spcPts val="1000"/>
              </a:lnSpc>
            </a:pPr>
            <a:r>
              <a:rPr lang="es-ES" sz="140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Kevin Sanchez.</a:t>
            </a:r>
          </a:p>
          <a:p>
            <a:pPr algn="ctr" rtl="0">
              <a:lnSpc>
                <a:spcPts val="1000"/>
              </a:lnSpc>
            </a:pPr>
            <a:r>
              <a:rPr lang="es-ES" sz="1400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  <a:t>Morel Solis.</a:t>
            </a:r>
            <a:br>
              <a:rPr lang="es-ES" sz="1400" b="0" i="0" spc="14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rPr>
            </a:br>
            <a:endParaRPr lang="es-ES" b="0" i="0" spc="140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8992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55C61F-C8F1-4977-8E1F-F16C0D9EA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2000" y="972311"/>
            <a:ext cx="5472000" cy="2999426"/>
          </a:xfrm>
        </p:spPr>
        <p:txBody>
          <a:bodyPr rtlCol="0"/>
          <a:lstStyle/>
          <a:p>
            <a:pPr marL="0" indent="0" rtl="0">
              <a:buNone/>
            </a:pPr>
            <a:r>
              <a:rPr lang="es-ES" sz="2400" b="1" dirty="0"/>
              <a:t>Introducción</a:t>
            </a:r>
          </a:p>
          <a:p>
            <a:pPr marL="0" indent="0" rtl="0">
              <a:buNone/>
            </a:pPr>
            <a:r>
              <a:rPr lang="es-ES" sz="2000" dirty="0"/>
              <a:t> </a:t>
            </a:r>
            <a:r>
              <a:rPr lang="es-MX" sz="2000" dirty="0"/>
              <a:t>El capítulo presenta los objetivos de aprendizaje sobre DFD.</a:t>
            </a:r>
          </a:p>
          <a:p>
            <a:pPr marL="0" indent="0" rtl="0">
              <a:buNone/>
            </a:pPr>
            <a:r>
              <a:rPr lang="es-MX" sz="2000" dirty="0"/>
              <a:t>Se busca comprender la importancia de los DFD lógicos y físicos para describir el movimiento de datos.</a:t>
            </a:r>
          </a:p>
          <a:p>
            <a:pPr marL="0" indent="0" rtl="0">
              <a:buNone/>
            </a:pPr>
            <a:r>
              <a:rPr lang="es-MX" sz="2000" dirty="0"/>
              <a:t>Los DFD permiten representar gráficamente entradas, procesos y salidas de un sistema.</a:t>
            </a:r>
          </a:p>
          <a:p>
            <a:pPr marL="0" indent="0" rtl="0">
              <a:buNone/>
            </a:pPr>
            <a:r>
              <a:rPr lang="es-MX" sz="2000" dirty="0"/>
              <a:t>Se introduce la metodología del flujo de datos como herramienta para determinar requerimientos humanos.</a:t>
            </a:r>
            <a:endParaRPr lang="es-ES" sz="2000" dirty="0"/>
          </a:p>
        </p:txBody>
      </p:sp>
      <p:pic>
        <p:nvPicPr>
          <p:cNvPr id="9" name="Marcador de posición de imagen 8" descr="Una mano tocando un teléfono móvil">
            <a:extLst>
              <a:ext uri="{FF2B5EF4-FFF2-40B4-BE49-F238E27FC236}">
                <a16:creationId xmlns:a16="http://schemas.microsoft.com/office/drawing/2014/main" id="{A9A75888-22E3-1D43-9112-DA02186070B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0" name="Rectángulo 19" descr="Bloque de énfasis">
            <a:extLst>
              <a:ext uri="{FF2B5EF4-FFF2-40B4-BE49-F238E27FC236}">
                <a16:creationId xmlns:a16="http://schemas.microsoft.com/office/drawing/2014/main" id="{EFA08948-2B6F-46B1-9D2D-8D7B2B3FB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48588" y="3688075"/>
            <a:ext cx="2411412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s-MX" sz="2800" dirty="0"/>
              <a:t>Título: Resumen de la página 258</a:t>
            </a:r>
            <a:endParaRPr lang="es-ES" sz="2800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11DC577-0A95-47D0-95D9-5F8DA763D4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 rtlCol="0"/>
          <a:lstStyle/>
          <a:p>
            <a:pPr rtl="0"/>
            <a:r>
              <a:rPr lang="es-ES" dirty="0"/>
              <a:t>Subtítulo: Capítulo 7 – Uso de diagramas de flujo de datos (DFD)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arcador de posición de imagen 13" descr="Una persona que escribe una nota a mano">
            <a:extLst>
              <a:ext uri="{FF2B5EF4-FFF2-40B4-BE49-F238E27FC236}">
                <a16:creationId xmlns:a16="http://schemas.microsoft.com/office/drawing/2014/main" id="{7E468295-904F-0743-AD06-67DA21353B9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6096000" cy="6371351"/>
          </a:xfr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-1"/>
            <a:ext cx="6096001" cy="1124345"/>
          </a:xfrm>
        </p:spPr>
        <p:txBody>
          <a:bodyPr rtlCol="0"/>
          <a:lstStyle/>
          <a:p>
            <a:pPr rtl="0"/>
            <a:r>
              <a:rPr lang="es-ES" sz="5200" dirty="0"/>
              <a:t>Desarrollo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2607D7E-0C2B-F3E0-F822-C76E98F3641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096000" y="955040"/>
            <a:ext cx="60960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Objetivos principales:</a:t>
            </a:r>
            <a:endParaRPr kumimoji="0" lang="es-NI" altLang="es-N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Crear y expandir DFD lógicos (sistema actual y propuesto).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Producir DFD físicos a partir de los lógicos.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Aplicar el concepto de </a:t>
            </a: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particionamiento</a:t>
            </a: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Ventajas de la metodología DFD:</a:t>
            </a:r>
            <a:endParaRPr kumimoji="0" lang="es-NI" altLang="es-N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comprometerse prematuramente con la implementación técnica.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Comprender mejor la interrelación entre sistemas y subsistemas.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Comunicar el sistema actual a los usuarios de forma visual.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Analizar un sistema propuesto para validar datos y procesos.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s-NI" altLang="es-NI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Características clave:</a:t>
            </a:r>
            <a:endParaRPr kumimoji="0" lang="es-NI" altLang="es-N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Uso de solo 4 símbolos.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distingue entre procesos manuales o automatizados.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sigue un orden cronológico estricto.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NI" altLang="es-NI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 agrupar procesos según convenga en el análisis.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NI" altLang="es-NI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09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10" descr="Escritorio con un ordenador, un teléfono, libros, etc.">
            <a:extLst>
              <a:ext uri="{FF2B5EF4-FFF2-40B4-BE49-F238E27FC236}">
                <a16:creationId xmlns:a16="http://schemas.microsoft.com/office/drawing/2014/main" id="{2E7ADBC3-DECA-9F4C-9289-9E43C727592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2204792"/>
            <a:ext cx="5956300" cy="1100565"/>
          </a:xfrm>
        </p:spPr>
        <p:txBody>
          <a:bodyPr rtlCol="0"/>
          <a:lstStyle/>
          <a:p>
            <a:pPr algn="ctr"/>
            <a:r>
              <a:rPr lang="es-NI" sz="5400" dirty="0"/>
              <a:t>Conclusión</a:t>
            </a:r>
            <a:endParaRPr lang="es-ES" sz="5200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F278402B-CA7D-4F5B-B3FA-ED74AB3CFB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3305357"/>
            <a:ext cx="5956300" cy="2597731"/>
          </a:xfrm>
        </p:spPr>
        <p:txBody>
          <a:bodyPr rtlCol="0"/>
          <a:lstStyle/>
          <a:p>
            <a:pPr algn="l" rtl="0"/>
            <a:r>
              <a:rPr lang="es-MX" dirty="0"/>
              <a:t>Los DFD ofrecen libertad conceptual al analista de sistemas.</a:t>
            </a:r>
          </a:p>
          <a:p>
            <a:pPr algn="l" rtl="0"/>
            <a:r>
              <a:rPr lang="es-MX" dirty="0"/>
              <a:t>Facilitan la documentación sólida y la comunicación con usuarios.</a:t>
            </a:r>
          </a:p>
          <a:p>
            <a:pPr algn="l" rtl="0"/>
            <a:r>
              <a:rPr lang="es-MX" dirty="0"/>
              <a:t>Su mayor fortaleza es la representación visual clara de procesos y flujos de datos.</a:t>
            </a:r>
          </a:p>
          <a:p>
            <a:pPr algn="l" rtl="0"/>
            <a:r>
              <a:rPr lang="es-MX" dirty="0"/>
              <a:t>Constituyen una base para el particionamiento y el análisis detallado de sistemas.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2156226"/>
            <a:ext cx="4903599" cy="1958400"/>
          </a:xfrm>
        </p:spPr>
        <p:txBody>
          <a:bodyPr rtlCol="0"/>
          <a:lstStyle/>
          <a:p>
            <a:pPr rtl="0"/>
            <a:r>
              <a:rPr lang="es-MX" sz="5200" dirty="0"/>
              <a:t>Título: Resumen de la página 259</a:t>
            </a:r>
            <a:endParaRPr lang="es-ES" sz="5200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2972F17A-D965-40B9-8ABB-C634072DBC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1898" y="2193092"/>
            <a:ext cx="6985301" cy="1921532"/>
          </a:xfrm>
        </p:spPr>
        <p:txBody>
          <a:bodyPr rtlCol="0"/>
          <a:lstStyle/>
          <a:p>
            <a:pPr rtl="0"/>
            <a:r>
              <a:rPr lang="es-MX" sz="1600" dirty="0"/>
              <a:t>Introducción.</a:t>
            </a:r>
          </a:p>
          <a:p>
            <a:pPr rtl="0"/>
            <a:r>
              <a:rPr lang="es-MX" sz="1600" dirty="0"/>
              <a:t>Los DFD utilizan cuatro símbolos básicos para representar el movimiento de datos.</a:t>
            </a:r>
          </a:p>
          <a:p>
            <a:pPr rtl="0"/>
            <a:r>
              <a:rPr lang="es-MX" sz="1600" dirty="0"/>
              <a:t>Estos símbolos permiten describir gráficamente sistemas completos y sus subsistemas.</a:t>
            </a:r>
          </a:p>
          <a:p>
            <a:pPr rtl="0"/>
            <a:r>
              <a:rPr lang="es-MX" sz="1600" dirty="0"/>
              <a:t>Cada símbolo tiene un propósito específico y reglas de denominación.</a:t>
            </a:r>
            <a:endParaRPr lang="es-ES" sz="16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964141-6F81-4947-A236-746D94ED3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5</a:t>
            </a:fld>
            <a:endParaRPr lang="es-ES"/>
          </a:p>
        </p:txBody>
      </p:sp>
      <p:sp>
        <p:nvSpPr>
          <p:cNvPr id="6" name="Marcador de texto 9">
            <a:extLst>
              <a:ext uri="{FF2B5EF4-FFF2-40B4-BE49-F238E27FC236}">
                <a16:creationId xmlns:a16="http://schemas.microsoft.com/office/drawing/2014/main" id="{FAB2CB20-64EC-BD54-6D1B-829DC3AF62B2}"/>
              </a:ext>
            </a:extLst>
          </p:cNvPr>
          <p:cNvSpPr txBox="1">
            <a:spLocks/>
          </p:cNvSpPr>
          <p:nvPr/>
        </p:nvSpPr>
        <p:spPr>
          <a:xfrm>
            <a:off x="0" y="4114625"/>
            <a:ext cx="4902200" cy="1100565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667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29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096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763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br>
              <a:rPr lang="es-MX" dirty="0"/>
            </a:br>
            <a:r>
              <a:rPr lang="es-MX" sz="2000" dirty="0"/>
              <a:t>Subtítulo: Convenciones usadas en los diagramas de flujo de datos (DFD)</a:t>
            </a: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211769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26376"/>
            <a:ext cx="11340000" cy="432000"/>
          </a:xfrm>
        </p:spPr>
        <p:txBody>
          <a:bodyPr rtlCol="0"/>
          <a:lstStyle/>
          <a:p>
            <a:pPr rtl="0"/>
            <a:r>
              <a:rPr lang="es-ES" dirty="0"/>
              <a:t>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A42D59-EAD6-4F95-84F1-32A30F05785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2287" y="732301"/>
            <a:ext cx="11339513" cy="360000"/>
          </a:xfrm>
        </p:spPr>
        <p:txBody>
          <a:bodyPr rtlCol="0"/>
          <a:lstStyle/>
          <a:p>
            <a:r>
              <a:rPr lang="es-MX" b="1" dirty="0"/>
              <a:t>Símbolos principales:</a:t>
            </a:r>
            <a:endParaRPr lang="es-MX" dirty="0"/>
          </a:p>
          <a:p>
            <a:r>
              <a:rPr lang="es-MX" dirty="0"/>
              <a:t>🟦 </a:t>
            </a:r>
            <a:r>
              <a:rPr lang="es-MX" b="1" dirty="0"/>
              <a:t>Cuadrado doble:</a:t>
            </a:r>
            <a:r>
              <a:rPr lang="es-MX" dirty="0"/>
              <a:t> Entidad externa (origen/destino de datos). Se nombra con un sustantivo.</a:t>
            </a:r>
          </a:p>
          <a:p>
            <a:r>
              <a:rPr lang="es-MX" dirty="0"/>
              <a:t>➡️ </a:t>
            </a:r>
            <a:r>
              <a:rPr lang="es-MX" b="1" dirty="0"/>
              <a:t>Flecha:</a:t>
            </a:r>
            <a:r>
              <a:rPr lang="es-MX" dirty="0"/>
              <a:t> Flujo de datos. Indica movimiento y se nombra con un sustantivo.</a:t>
            </a:r>
          </a:p>
        </p:txBody>
      </p:sp>
      <p:sp>
        <p:nvSpPr>
          <p:cNvPr id="12" name="Rectángulo 11" descr="Bloque de énfasis izquierdo">
            <a:extLst>
              <a:ext uri="{FF2B5EF4-FFF2-40B4-BE49-F238E27FC236}">
                <a16:creationId xmlns:a16="http://schemas.microsoft.com/office/drawing/2014/main" id="{7F65E93D-09FF-42EE-B9DD-750638966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7828" y="2263459"/>
            <a:ext cx="5472000" cy="360000"/>
          </a:xfrm>
        </p:spPr>
        <p:txBody>
          <a:bodyPr rtlCol="0"/>
          <a:lstStyle/>
          <a:p>
            <a:r>
              <a:rPr lang="es-NI" sz="1800" dirty="0"/>
              <a:t>⬭ Rectángulo con esquinas redondeadas: Proceso de transformación.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EEB3BAE-C0B2-447C-B8BE-96C6BD84D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950768"/>
            <a:ext cx="5472000" cy="2813424"/>
          </a:xfrm>
        </p:spPr>
        <p:txBody>
          <a:bodyPr rtlCol="0"/>
          <a:lstStyle/>
          <a:p>
            <a:pPr rtl="0"/>
            <a:r>
              <a:rPr lang="es-MX" dirty="0"/>
              <a:t>Se nombra con:</a:t>
            </a:r>
          </a:p>
          <a:p>
            <a:pPr rtl="0"/>
            <a:r>
              <a:rPr lang="es-MX" dirty="0"/>
              <a:t>Nombre del sistema (ej. Sistema de Control de Inventario).</a:t>
            </a:r>
          </a:p>
          <a:p>
            <a:pPr rtl="0"/>
            <a:r>
              <a:rPr lang="es-MX" dirty="0"/>
              <a:t>Nombre de subsistema (ej. Subsistema de Informe de Inventarios).</a:t>
            </a:r>
          </a:p>
          <a:p>
            <a:pPr rtl="0"/>
            <a:r>
              <a:rPr lang="es-MX" dirty="0"/>
              <a:t>Verbo + sustantivo + adjetivo (ej. Calcular impuesto de ventas).</a:t>
            </a:r>
          </a:p>
          <a:p>
            <a:pPr rtl="0"/>
            <a:r>
              <a:rPr lang="es-MX" dirty="0"/>
              <a:t>Cada proceso recibe un número de identificación único.</a:t>
            </a:r>
            <a:endParaRPr lang="es-ES" dirty="0"/>
          </a:p>
        </p:txBody>
      </p:sp>
      <p:cxnSp>
        <p:nvCxnSpPr>
          <p:cNvPr id="11" name="Conector recto 10" descr="Línea divisoria de la diapositiva">
            <a:extLst>
              <a:ext uri="{FF2B5EF4-FFF2-40B4-BE49-F238E27FC236}">
                <a16:creationId xmlns:a16="http://schemas.microsoft.com/office/drawing/2014/main" id="{5A563457-1EC8-4978-BCCB-AFD88C9ED0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 descr="Barra de énfasis derecha&#10;">
            <a:extLst>
              <a:ext uri="{FF2B5EF4-FFF2-40B4-BE49-F238E27FC236}">
                <a16:creationId xmlns:a16="http://schemas.microsoft.com/office/drawing/2014/main" id="{A7CD04AE-9A8B-4DED-855D-F51B510D0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 rtl="0"/>
            <a:endParaRPr lang="es-ES"/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237D1CA-B91A-410E-A968-D017BBE99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443459"/>
            <a:ext cx="5472000" cy="358775"/>
          </a:xfrm>
        </p:spPr>
        <p:txBody>
          <a:bodyPr rtlCol="0"/>
          <a:lstStyle/>
          <a:p>
            <a:pPr rtl="0"/>
            <a:r>
              <a:rPr lang="es-MX" sz="2000" dirty="0"/>
              <a:t>🗄️ Rectángulo abierto por un lado: Almacén de datos.</a:t>
            </a:r>
            <a:endParaRPr lang="es-ES" sz="2000" dirty="0"/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26A87885-D672-4CF9-A78D-CFE98385B0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947459"/>
            <a:ext cx="5472113" cy="2196041"/>
          </a:xfrm>
        </p:spPr>
        <p:txBody>
          <a:bodyPr rtlCol="0"/>
          <a:lstStyle/>
          <a:p>
            <a:pPr rtl="0"/>
            <a:r>
              <a:rPr lang="es-ES" dirty="0"/>
              <a:t> </a:t>
            </a:r>
            <a:r>
              <a:rPr lang="es-MX" dirty="0"/>
              <a:t>Representa depósitos manuales o digitales.</a:t>
            </a:r>
          </a:p>
          <a:p>
            <a:pPr rtl="0"/>
            <a:r>
              <a:rPr lang="es-MX" dirty="0"/>
              <a:t>Se nombra con un sustantivo.</a:t>
            </a:r>
          </a:p>
          <a:p>
            <a:pPr rtl="0"/>
            <a:r>
              <a:rPr lang="es-MX" dirty="0"/>
              <a:t>No se incluyen almacenes temporales.</a:t>
            </a:r>
            <a:endParaRPr lang="es-ES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6</a:t>
            </a:fld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C44526A-E175-9A7F-6CE8-52F7DFC22A3B}"/>
              </a:ext>
            </a:extLst>
          </p:cNvPr>
          <p:cNvSpPr txBox="1"/>
          <p:nvPr/>
        </p:nvSpPr>
        <p:spPr>
          <a:xfrm>
            <a:off x="6493397" y="4894023"/>
            <a:ext cx="526660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/>
              <a:t>Reglas adicionales:</a:t>
            </a:r>
          </a:p>
          <a:p>
            <a:r>
              <a:rPr lang="es-MX" dirty="0"/>
              <a:t>Una entidad puede repetirse para evitar cruces de líneas.</a:t>
            </a:r>
          </a:p>
          <a:p>
            <a:r>
              <a:rPr lang="es-MX" dirty="0"/>
              <a:t>Los procesos deben tener entradas y salidas diferenciadas.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1332C-1A75-9FCC-D025-B577A1A0F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10" descr="Escritorio con un ordenador, un teléfono, libros, etc.">
            <a:extLst>
              <a:ext uri="{FF2B5EF4-FFF2-40B4-BE49-F238E27FC236}">
                <a16:creationId xmlns:a16="http://schemas.microsoft.com/office/drawing/2014/main" id="{FCD4E133-B37F-6823-157E-4440B0F6A50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0015EDD5-C36C-FD2D-0627-B62B1B44A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2204792"/>
            <a:ext cx="5956300" cy="1100565"/>
          </a:xfrm>
        </p:spPr>
        <p:txBody>
          <a:bodyPr rtlCol="0"/>
          <a:lstStyle/>
          <a:p>
            <a:pPr algn="ctr"/>
            <a:r>
              <a:rPr lang="es-NI" sz="5400" dirty="0"/>
              <a:t>Conclusión</a:t>
            </a:r>
            <a:endParaRPr lang="es-ES" sz="5200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4AA5FFE3-E665-1BE7-F81C-0833901652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3305357"/>
            <a:ext cx="5956300" cy="2597731"/>
          </a:xfrm>
        </p:spPr>
        <p:txBody>
          <a:bodyPr rtlCol="0"/>
          <a:lstStyle/>
          <a:p>
            <a:pPr algn="l" rtl="0"/>
            <a:r>
              <a:rPr lang="es-MX" dirty="0"/>
              <a:t>Los DFD ofrecen libertad conceptual al analista de sistemas.</a:t>
            </a:r>
          </a:p>
          <a:p>
            <a:pPr algn="l" rtl="0"/>
            <a:r>
              <a:rPr lang="es-MX" dirty="0"/>
              <a:t>Facilitan la documentación sólida y la comunicación con usuarios.</a:t>
            </a:r>
          </a:p>
          <a:p>
            <a:pPr algn="l" rtl="0"/>
            <a:r>
              <a:rPr lang="es-MX" dirty="0"/>
              <a:t>Su mayor fortaleza es la representación visual clara de procesos y flujos de datos.</a:t>
            </a:r>
          </a:p>
          <a:p>
            <a:pPr algn="l" rtl="0"/>
            <a:r>
              <a:rPr lang="es-MX" dirty="0"/>
              <a:t>Constituyen una base para el particionamiento y el análisis detallado de sistemas.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57576F-7EEE-8CB9-99CB-559022C2C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0619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BAA7ED-33B0-BE72-B7FC-CC3A74B6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5DFC5557-F0E9-8496-B4E1-25CC3CA56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2156226"/>
            <a:ext cx="4903599" cy="1958400"/>
          </a:xfrm>
        </p:spPr>
        <p:txBody>
          <a:bodyPr rtlCol="0"/>
          <a:lstStyle/>
          <a:p>
            <a:pPr rtl="0"/>
            <a:r>
              <a:rPr lang="es-MX" sz="5200" dirty="0"/>
              <a:t>Título: Resumen de la página 260</a:t>
            </a:r>
            <a:endParaRPr lang="es-ES" sz="5200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46022FA7-D00E-8027-69CA-0773759C23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1898" y="2193092"/>
            <a:ext cx="6985301" cy="1921532"/>
          </a:xfrm>
        </p:spPr>
        <p:txBody>
          <a:bodyPr rtlCol="0"/>
          <a:lstStyle/>
          <a:p>
            <a:pPr rtl="0"/>
            <a:r>
              <a:rPr lang="es-MX" sz="1400" dirty="0"/>
              <a:t>Introducción.</a:t>
            </a:r>
          </a:p>
          <a:p>
            <a:pPr rtl="0"/>
            <a:r>
              <a:rPr lang="es-MX" sz="1400" dirty="0"/>
              <a:t>Los DFD deben elaborarse de forma sistemática siguiendo una metodología clara.</a:t>
            </a:r>
          </a:p>
          <a:p>
            <a:pPr rtl="0"/>
            <a:r>
              <a:rPr lang="es-MX" sz="1400" dirty="0"/>
              <a:t>El analista debe conceptualizar los flujos de datos desde una perspectiva de arriba-abajo.</a:t>
            </a:r>
          </a:p>
          <a:p>
            <a:pPr rtl="0"/>
            <a:r>
              <a:rPr lang="es-MX" sz="1400" dirty="0"/>
              <a:t>El proceso inicia con la narrativa del sistema, reducida a cuatro categorías:</a:t>
            </a:r>
          </a:p>
          <a:p>
            <a:pPr rtl="0"/>
            <a:r>
              <a:rPr lang="es-MX" sz="1400" dirty="0"/>
              <a:t>Entidades externas, flujos de datos, procesos, almacenes de datos.</a:t>
            </a:r>
            <a:endParaRPr lang="es-ES" sz="14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7B24AD-6289-CAD4-D52D-BE688C3AB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Marcador de texto 9">
            <a:extLst>
              <a:ext uri="{FF2B5EF4-FFF2-40B4-BE49-F238E27FC236}">
                <a16:creationId xmlns:a16="http://schemas.microsoft.com/office/drawing/2014/main" id="{737F0DA9-2D92-F4BD-20C4-1C7A906F5218}"/>
              </a:ext>
            </a:extLst>
          </p:cNvPr>
          <p:cNvSpPr txBox="1">
            <a:spLocks/>
          </p:cNvSpPr>
          <p:nvPr/>
        </p:nvSpPr>
        <p:spPr>
          <a:xfrm>
            <a:off x="0" y="4114625"/>
            <a:ext cx="4902200" cy="1100565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667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29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096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763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 sz="2000" b="1" dirty="0"/>
              <a:t>Subtítulo:</a:t>
            </a:r>
            <a:r>
              <a:rPr lang="es-MX" sz="2000" dirty="0"/>
              <a:t> Cómo desarrollar diagramas de flujo de datos (DFD)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386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ECC19-BB42-419F-6FD9-169EAC65D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ED7E0B-2E47-AA2B-58D2-7B645704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26376"/>
            <a:ext cx="11340000" cy="432000"/>
          </a:xfrm>
        </p:spPr>
        <p:txBody>
          <a:bodyPr rtlCol="0"/>
          <a:lstStyle/>
          <a:p>
            <a:pPr rtl="0"/>
            <a:r>
              <a:rPr lang="es-ES" dirty="0"/>
              <a:t>Desarrollo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07CAF9-82CD-37FC-FC09-C14C0334C32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32287" y="732301"/>
            <a:ext cx="11339513" cy="360000"/>
          </a:xfrm>
        </p:spPr>
        <p:txBody>
          <a:bodyPr rtlCol="0"/>
          <a:lstStyle/>
          <a:p>
            <a:r>
              <a:rPr lang="es-MX" sz="1400" dirty="0"/>
              <a:t>Reglas básicas de los DFD: Debe existir al menos un proceso.</a:t>
            </a:r>
          </a:p>
          <a:p>
            <a:r>
              <a:rPr lang="es-MX" sz="1400" dirty="0"/>
              <a:t>Todo proceso recibe un flujo de entrada y genera uno de salida.</a:t>
            </a:r>
          </a:p>
          <a:p>
            <a:r>
              <a:rPr lang="es-MX" sz="1400" dirty="0"/>
              <a:t>Todo almacén de datos debe conectarse con al menos un proceso.</a:t>
            </a:r>
          </a:p>
          <a:p>
            <a:r>
              <a:rPr lang="es-MX" sz="1400" dirty="0"/>
              <a:t>Las entidades externas no se conectan entre sí.</a:t>
            </a:r>
          </a:p>
        </p:txBody>
      </p:sp>
      <p:sp>
        <p:nvSpPr>
          <p:cNvPr id="12" name="Rectángulo 11" descr="Bloque de énfasis izquierdo">
            <a:extLst>
              <a:ext uri="{FF2B5EF4-FFF2-40B4-BE49-F238E27FC236}">
                <a16:creationId xmlns:a16="http://schemas.microsoft.com/office/drawing/2014/main" id="{DBAE6586-03DD-A006-3D65-D15631275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2100317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9437EA-BD99-252A-C28F-9B09C1F571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7828" y="2263459"/>
            <a:ext cx="5472000" cy="360000"/>
          </a:xfrm>
        </p:spPr>
        <p:txBody>
          <a:bodyPr rtlCol="0"/>
          <a:lstStyle/>
          <a:p>
            <a:r>
              <a:rPr lang="es-MX" sz="1800" dirty="0"/>
              <a:t>Creación del diagrama de contexto</a:t>
            </a:r>
            <a:endParaRPr lang="es-NI" sz="180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EFB392C-206C-AB94-D1F0-72DB42A23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5828" y="2622846"/>
            <a:ext cx="5010150" cy="1724565"/>
          </a:xfrm>
        </p:spPr>
        <p:txBody>
          <a:bodyPr rtlCol="0"/>
          <a:lstStyle/>
          <a:p>
            <a:pPr rtl="0"/>
            <a:r>
              <a:rPr lang="es-MX" dirty="0"/>
              <a:t>Representa la vista panorámica del sistema.</a:t>
            </a:r>
          </a:p>
          <a:p>
            <a:pPr rtl="0"/>
            <a:r>
              <a:rPr lang="es-MX" dirty="0"/>
              <a:t>Contiene un único proceso (numerado como 0).</a:t>
            </a:r>
          </a:p>
          <a:p>
            <a:pPr rtl="0"/>
            <a:r>
              <a:rPr lang="es-MX" dirty="0"/>
              <a:t>Incluye todas las entidades externas y los flujos principales.</a:t>
            </a:r>
          </a:p>
          <a:p>
            <a:pPr rtl="0"/>
            <a:r>
              <a:rPr lang="es-MX" dirty="0"/>
              <a:t>No contiene almacenes de datos.</a:t>
            </a:r>
            <a:endParaRPr lang="es-ES" dirty="0"/>
          </a:p>
        </p:txBody>
      </p:sp>
      <p:cxnSp>
        <p:nvCxnSpPr>
          <p:cNvPr id="11" name="Conector recto 10" descr="Línea divisoria de la diapositiva">
            <a:extLst>
              <a:ext uri="{FF2B5EF4-FFF2-40B4-BE49-F238E27FC236}">
                <a16:creationId xmlns:a16="http://schemas.microsoft.com/office/drawing/2014/main" id="{574DCF6E-F5BD-EA86-D367-C2FD2D7A8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 descr="Barra de énfasis derecha&#10;">
            <a:extLst>
              <a:ext uri="{FF2B5EF4-FFF2-40B4-BE49-F238E27FC236}">
                <a16:creationId xmlns:a16="http://schemas.microsoft.com/office/drawing/2014/main" id="{47641C95-1675-79F3-8326-8C7A8625F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99887" y="2100317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5824899-1D3F-4CC8-FFE0-5DB00EA1727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2443459"/>
            <a:ext cx="5472000" cy="358775"/>
          </a:xfrm>
        </p:spPr>
        <p:txBody>
          <a:bodyPr rtlCol="0"/>
          <a:lstStyle/>
          <a:p>
            <a:pPr rtl="0"/>
            <a:r>
              <a:rPr lang="es-ES" sz="2000" dirty="0"/>
              <a:t>Metodología arriba-abajo (pasos)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EB49E5AC-53D0-0E5A-D5E7-E217D73574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87887" y="2802234"/>
            <a:ext cx="5472113" cy="3569117"/>
          </a:xfrm>
        </p:spPr>
        <p:txBody>
          <a:bodyPr rtlCol="0"/>
          <a:lstStyle/>
          <a:p>
            <a:pPr rtl="0"/>
            <a:r>
              <a:rPr lang="es-MX" dirty="0"/>
              <a:t>Listar actividades → identificar entidades, flujos, procesos y almacenes.</a:t>
            </a:r>
          </a:p>
          <a:p>
            <a:pPr rtl="0"/>
            <a:r>
              <a:rPr lang="es-MX" dirty="0"/>
              <a:t>Crear el diagrama de contexto. </a:t>
            </a:r>
          </a:p>
          <a:p>
            <a:pPr rtl="0"/>
            <a:r>
              <a:rPr lang="es-MX" dirty="0"/>
              <a:t>Dibujar el Diagrama 0 (procesos generales + almacenes).</a:t>
            </a:r>
          </a:p>
          <a:p>
            <a:pPr rtl="0"/>
            <a:r>
              <a:rPr lang="es-MX" dirty="0"/>
              <a:t>Crear diagramas hijo para cada proceso.</a:t>
            </a:r>
          </a:p>
          <a:p>
            <a:pPr rtl="0"/>
            <a:r>
              <a:rPr lang="es-MX" dirty="0"/>
              <a:t>Verificar errores y etiquetas significativas.</a:t>
            </a:r>
          </a:p>
          <a:p>
            <a:pPr rtl="0"/>
            <a:r>
              <a:rPr lang="es-MX" dirty="0"/>
              <a:t>Desarrollar el DFD físico a partir del lógico (distinguir manual vs. automatizado, archivos, controles).</a:t>
            </a:r>
          </a:p>
          <a:p>
            <a:pPr rtl="0"/>
            <a:r>
              <a:rPr lang="es-MX" dirty="0"/>
              <a:t>Particionar el DFD físico para facilitar programación e implementación.</a:t>
            </a:r>
            <a:endParaRPr lang="es-ES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04D583BA-1957-AB71-6845-3888A3695FC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534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472C4-0A49-C8C7-33BF-0EFF767E6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10" descr="Escritorio con un ordenador, un teléfono, libros, etc.">
            <a:extLst>
              <a:ext uri="{FF2B5EF4-FFF2-40B4-BE49-F238E27FC236}">
                <a16:creationId xmlns:a16="http://schemas.microsoft.com/office/drawing/2014/main" id="{7354E1FC-E0C9-EB36-E310-2F9C9715A2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73A0DCA6-1171-74DF-396A-A89CF93C7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2204792"/>
            <a:ext cx="5956300" cy="1100565"/>
          </a:xfrm>
        </p:spPr>
        <p:txBody>
          <a:bodyPr rtlCol="0"/>
          <a:lstStyle/>
          <a:p>
            <a:pPr algn="ctr"/>
            <a:r>
              <a:rPr lang="es-NI" sz="5400" dirty="0"/>
              <a:t>Conclusión</a:t>
            </a:r>
            <a:endParaRPr lang="es-ES" sz="5200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0782F139-A07F-838E-9CB1-BF7EA216EB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3305357"/>
            <a:ext cx="5956300" cy="2597731"/>
          </a:xfrm>
        </p:spPr>
        <p:txBody>
          <a:bodyPr rtlCol="0"/>
          <a:lstStyle/>
          <a:p>
            <a:pPr algn="l" rtl="0"/>
            <a:r>
              <a:rPr lang="es-MX" dirty="0"/>
              <a:t>El desarrollo de DFD sigue un proceso jerárquico: de lo general a lo específico</a:t>
            </a:r>
          </a:p>
          <a:p>
            <a:pPr algn="l" rtl="0"/>
            <a:r>
              <a:rPr lang="es-MX" dirty="0"/>
              <a:t>.El diagrama de contexto es la base para comprender el sistema global.</a:t>
            </a:r>
          </a:p>
          <a:p>
            <a:pPr algn="l" rtl="0"/>
            <a:r>
              <a:rPr lang="es-MX" dirty="0"/>
              <a:t>La metodología asegura claridad, consistencia y utilidad práctica en el análisis.</a:t>
            </a:r>
          </a:p>
          <a:p>
            <a:pPr algn="l" rtl="0"/>
            <a:r>
              <a:rPr lang="es-MX" dirty="0"/>
              <a:t>El particionamiento final permite preparar el sistema para su programación e implementación.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A34067-2D30-2FA0-C98E-B06AD9B60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738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7CF036-6CAF-47E6-DF45-BE379CCFF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8F41D09-6808-2BA5-65A9-B7865F516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2156226"/>
            <a:ext cx="4903599" cy="1958400"/>
          </a:xfrm>
        </p:spPr>
        <p:txBody>
          <a:bodyPr rtlCol="0"/>
          <a:lstStyle/>
          <a:p>
            <a:pPr rtl="0"/>
            <a:r>
              <a:rPr lang="es-MX" sz="5200" dirty="0"/>
              <a:t>Título: Resumen de la página 261</a:t>
            </a:r>
            <a:endParaRPr lang="es-ES" sz="5200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C5B7C229-6B85-07DB-8B5B-0DD5FD36B4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1898" y="2193092"/>
            <a:ext cx="6985301" cy="1921532"/>
          </a:xfrm>
        </p:spPr>
        <p:txBody>
          <a:bodyPr rtlCol="0"/>
          <a:lstStyle/>
          <a:p>
            <a:pPr rtl="0"/>
            <a:r>
              <a:rPr lang="es-MX" sz="1400" dirty="0"/>
              <a:t>Introducción.</a:t>
            </a:r>
          </a:p>
          <a:p>
            <a:pPr rtl="0"/>
            <a:r>
              <a:rPr lang="es-MX" sz="1400" dirty="0"/>
              <a:t>El Diagrama 0 es la expansión del diagrama de contexto.</a:t>
            </a:r>
          </a:p>
          <a:p>
            <a:pPr rtl="0"/>
            <a:r>
              <a:rPr lang="es-MX" sz="1400" dirty="0"/>
              <a:t>Permite obtener más detalles del sistema sin alterar las entradas y salidas ya definidas.</a:t>
            </a:r>
          </a:p>
          <a:p>
            <a:pPr rtl="0"/>
            <a:r>
              <a:rPr lang="es-MX" sz="1400" dirty="0"/>
              <a:t>Su función es profundizar en los procesos y almacenes de datos para representar mejor el movimiento de la información.</a:t>
            </a:r>
            <a:endParaRPr lang="es-ES" sz="1400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5D2C2E0-B622-025B-9697-F60BE9497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Marcador de texto 9">
            <a:extLst>
              <a:ext uri="{FF2B5EF4-FFF2-40B4-BE49-F238E27FC236}">
                <a16:creationId xmlns:a16="http://schemas.microsoft.com/office/drawing/2014/main" id="{038A5F90-BF5D-2500-C679-95C83CBBD2D2}"/>
              </a:ext>
            </a:extLst>
          </p:cNvPr>
          <p:cNvSpPr txBox="1">
            <a:spLocks/>
          </p:cNvSpPr>
          <p:nvPr/>
        </p:nvSpPr>
        <p:spPr>
          <a:xfrm>
            <a:off x="0" y="4114625"/>
            <a:ext cx="4902200" cy="1100565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667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29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096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763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Subtítulo: Dibujo del diagrama</a:t>
            </a:r>
            <a:r>
              <a:rPr lang="es-MX" sz="2000" b="1" dirty="0">
                <a:solidFill>
                  <a:srgbClr val="FFFFFF"/>
                </a:solidFill>
                <a:latin typeface="Candara"/>
              </a:rPr>
              <a:t>a 0 (nivel siguiente al contexto)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6349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111A6-227B-E4C8-07B0-76BD40CA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2C3D5F-8AA7-DA7C-0175-94B9C40B6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26376"/>
            <a:ext cx="11340000" cy="432000"/>
          </a:xfrm>
        </p:spPr>
        <p:txBody>
          <a:bodyPr rtlCol="0"/>
          <a:lstStyle/>
          <a:p>
            <a:pPr rtl="0"/>
            <a:r>
              <a:rPr lang="es-ES" dirty="0"/>
              <a:t>Desarrollo</a:t>
            </a:r>
          </a:p>
        </p:txBody>
      </p:sp>
      <p:sp>
        <p:nvSpPr>
          <p:cNvPr id="12" name="Rectángulo 11" descr="Bloque de énfasis izquierdo">
            <a:extLst>
              <a:ext uri="{FF2B5EF4-FFF2-40B4-BE49-F238E27FC236}">
                <a16:creationId xmlns:a16="http://schemas.microsoft.com/office/drawing/2014/main" id="{EA75DFE6-8748-3D60-342F-39AF47550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995578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CFA03F-B68B-C632-C38F-67533CE3A6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403" y="1143509"/>
            <a:ext cx="5472000" cy="360000"/>
          </a:xfrm>
        </p:spPr>
        <p:txBody>
          <a:bodyPr rtlCol="0"/>
          <a:lstStyle/>
          <a:p>
            <a:r>
              <a:rPr lang="es-MX" sz="1800" dirty="0"/>
              <a:t>Características del diagrama 0</a:t>
            </a:r>
            <a:endParaRPr lang="es-NI" sz="180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C5F4BA8-B5FC-B4CC-C982-6D71D64B27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403" y="1576683"/>
            <a:ext cx="5010150" cy="2622922"/>
          </a:xfrm>
        </p:spPr>
        <p:txBody>
          <a:bodyPr rtlCol="0"/>
          <a:lstStyle/>
          <a:p>
            <a:pPr rtl="0"/>
            <a:r>
              <a:rPr lang="es-MX" dirty="0"/>
              <a:t>Expande el diagrama de contexto en 3 a 9 procesos.</a:t>
            </a:r>
          </a:p>
          <a:p>
            <a:pPr rtl="0"/>
            <a:r>
              <a:rPr lang="es-MX" dirty="0"/>
              <a:t>Incluye almacenes de datos principales (archivos maestros).</a:t>
            </a:r>
          </a:p>
          <a:p>
            <a:pPr rtl="0"/>
            <a:r>
              <a:rPr lang="es-MX" dirty="0"/>
              <a:t>Mantiene todas las entidades externas.</a:t>
            </a:r>
          </a:p>
          <a:p>
            <a:pPr rtl="0"/>
            <a:r>
              <a:rPr lang="es-MX" dirty="0"/>
              <a:t>Cada proceso se numera con enteros (de arriba a abajo, izquierda a derecha).</a:t>
            </a:r>
          </a:p>
          <a:p>
            <a:pPr rtl="0"/>
            <a:r>
              <a:rPr lang="es-MX" dirty="0"/>
              <a:t> diagrama expandido debe ocupar una sola hoja.</a:t>
            </a:r>
            <a:endParaRPr lang="es-ES" dirty="0"/>
          </a:p>
        </p:txBody>
      </p:sp>
      <p:cxnSp>
        <p:nvCxnSpPr>
          <p:cNvPr id="11" name="Conector recto 10" descr="Línea divisoria de la diapositiva">
            <a:extLst>
              <a:ext uri="{FF2B5EF4-FFF2-40B4-BE49-F238E27FC236}">
                <a16:creationId xmlns:a16="http://schemas.microsoft.com/office/drawing/2014/main" id="{8CF85517-4B4E-BBEF-8E44-74C75039A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 descr="Barra de énfasis derecha&#10;">
            <a:extLst>
              <a:ext uri="{FF2B5EF4-FFF2-40B4-BE49-F238E27FC236}">
                <a16:creationId xmlns:a16="http://schemas.microsoft.com/office/drawing/2014/main" id="{ADD16CE2-48B2-AA20-A9F6-9B25E50F1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995578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BC7ECF87-6993-FEDA-8148-505648FA353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1144121"/>
            <a:ext cx="5472000" cy="358775"/>
          </a:xfrm>
        </p:spPr>
        <p:txBody>
          <a:bodyPr rtlCol="0"/>
          <a:lstStyle/>
          <a:p>
            <a:pPr rtl="0"/>
            <a:r>
              <a:rPr lang="es-ES" sz="2000" dirty="0"/>
              <a:t>Estrategias para construirlos: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DE36A0E0-DAF6-A9AF-999F-ABC3BE5046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887" y="1502896"/>
            <a:ext cx="5472113" cy="3569117"/>
          </a:xfrm>
        </p:spPr>
        <p:txBody>
          <a:bodyPr rtlCol="0"/>
          <a:lstStyle/>
          <a:p>
            <a:pPr rtl="0"/>
            <a:r>
              <a:rPr lang="es-MX" dirty="0"/>
              <a:t>Iniciar desde una entidad externa y seguir el flujo de entrada.</a:t>
            </a:r>
          </a:p>
          <a:p>
            <a:pPr rtl="0"/>
            <a:r>
              <a:rPr lang="es-MX" dirty="0"/>
              <a:t>Trabajar en sentido inverso desde una salida (ej. cheque de nómina → identificar archivos y cálculos).</a:t>
            </a:r>
          </a:p>
          <a:p>
            <a:pPr rtl="0"/>
            <a:r>
              <a:rPr lang="es-MX" dirty="0"/>
              <a:t>Analizar los flujos que entran/salen de un almacén de datos.</a:t>
            </a:r>
          </a:p>
          <a:p>
            <a:pPr rtl="0"/>
            <a:r>
              <a:rPr lang="es-MX" dirty="0"/>
              <a:t>Revisar un proceso definido: entradas, salidas y conexiones.</a:t>
            </a:r>
          </a:p>
          <a:p>
            <a:pPr rtl="0"/>
            <a:r>
              <a:rPr lang="es-MX" dirty="0"/>
              <a:t>Registrar áreas confusas para entrevistas posteriores con usuarios clave.</a:t>
            </a:r>
            <a:endParaRPr lang="es-ES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0F54BF88-BB14-179F-7400-FE15403D2C9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5354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DF90D-AFA3-6DB3-9D70-E8FC440BE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10" descr="Escritorio con un ordenador, un teléfono, libros, etc.">
            <a:extLst>
              <a:ext uri="{FF2B5EF4-FFF2-40B4-BE49-F238E27FC236}">
                <a16:creationId xmlns:a16="http://schemas.microsoft.com/office/drawing/2014/main" id="{136097F8-8839-0518-4850-2D8150E5BE5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14138979-33C9-0EBE-1A2F-C87A83226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2204792"/>
            <a:ext cx="5956300" cy="1100565"/>
          </a:xfrm>
        </p:spPr>
        <p:txBody>
          <a:bodyPr rtlCol="0"/>
          <a:lstStyle/>
          <a:p>
            <a:pPr algn="ctr"/>
            <a:r>
              <a:rPr lang="es-NI" sz="5400" dirty="0"/>
              <a:t>Conclusión</a:t>
            </a:r>
            <a:endParaRPr lang="es-ES" sz="5200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AA27930E-D5E3-824F-2856-40F4E180DF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3305357"/>
            <a:ext cx="5956300" cy="2597731"/>
          </a:xfrm>
        </p:spPr>
        <p:txBody>
          <a:bodyPr rtlCol="0"/>
          <a:lstStyle/>
          <a:p>
            <a:pPr algn="l" rtl="0"/>
            <a:r>
              <a:rPr lang="es-MX" dirty="0"/>
              <a:t>El Diagrama 0 funciona como una “lupa” sobre el diagrama de contexto.</a:t>
            </a:r>
          </a:p>
          <a:p>
            <a:pPr algn="l" rtl="0"/>
            <a:r>
              <a:rPr lang="es-MX" dirty="0"/>
              <a:t>Permite detallar procesos, almacenes y flujos sin perder la visión general.</a:t>
            </a:r>
          </a:p>
          <a:p>
            <a:pPr algn="l" rtl="0"/>
            <a:r>
              <a:rPr lang="es-MX" dirty="0"/>
              <a:t>Su construcción es iterativa y flexible, pudiendo empezar desde entradas, salidas, procesos o almacenes.</a:t>
            </a:r>
          </a:p>
          <a:p>
            <a:pPr algn="l" rtl="0"/>
            <a:r>
              <a:rPr lang="es-MX" dirty="0"/>
              <a:t>Es una herramienta clave para refinar el análisis del sistema y preparar niveles más detallados.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A70080-5F18-C60D-7C69-CB747BD4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286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57106-0510-4FE6-BF48-DDC259F6A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12BA371-3099-163B-E262-85DED10C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00" y="2156226"/>
            <a:ext cx="4903599" cy="1958400"/>
          </a:xfrm>
        </p:spPr>
        <p:txBody>
          <a:bodyPr rtlCol="0"/>
          <a:lstStyle/>
          <a:p>
            <a:pPr rtl="0"/>
            <a:r>
              <a:rPr lang="es-MX" sz="5200" dirty="0"/>
              <a:t>Título: Resumen de la página 262</a:t>
            </a:r>
            <a:endParaRPr lang="es-ES" sz="5200" dirty="0"/>
          </a:p>
        </p:txBody>
      </p:sp>
      <p:sp>
        <p:nvSpPr>
          <p:cNvPr id="10" name="Marcador de texto 9">
            <a:extLst>
              <a:ext uri="{FF2B5EF4-FFF2-40B4-BE49-F238E27FC236}">
                <a16:creationId xmlns:a16="http://schemas.microsoft.com/office/drawing/2014/main" id="{377D1F4A-F3E9-A4AD-94F8-14159FF9A5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01898" y="2156226"/>
            <a:ext cx="6985301" cy="1958398"/>
          </a:xfrm>
        </p:spPr>
        <p:txBody>
          <a:bodyPr rtlCol="0"/>
          <a:lstStyle/>
          <a:p>
            <a:pPr rtl="0"/>
            <a:r>
              <a:rPr lang="es-MX" sz="1400" dirty="0"/>
              <a:t>Introducción.</a:t>
            </a:r>
          </a:p>
          <a:p>
            <a:pPr rtl="0"/>
            <a:r>
              <a:rPr lang="es-MX" sz="1400" dirty="0"/>
              <a:t>Cada proceso del Diagrama 0 puede expandirse en un diagrama hijo más detallado.</a:t>
            </a:r>
          </a:p>
          <a:p>
            <a:pPr rtl="0"/>
            <a:r>
              <a:rPr lang="es-MX" sz="1400" dirty="0"/>
              <a:t>El proceso original se denomina proceso padre y el nuevo diagrama, diagrama hijo.</a:t>
            </a:r>
          </a:p>
          <a:p>
            <a:pPr rtl="0"/>
            <a:r>
              <a:rPr lang="es-MX" sz="1400" dirty="0"/>
              <a:t>La regla clave es el balanceo vertical:</a:t>
            </a:r>
          </a:p>
          <a:p>
            <a:pPr rtl="0"/>
            <a:r>
              <a:rPr lang="es-MX" sz="1400" dirty="0"/>
              <a:t>El hijo no puede recibir ni producir datos que el padre no tenga.</a:t>
            </a:r>
          </a:p>
          <a:p>
            <a:pPr rtl="0"/>
            <a:r>
              <a:rPr lang="es-MX" sz="1400" dirty="0"/>
              <a:t>Todo flujo de entrada/salida del padre debe reflejarse en el hijo.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A4D44B3-0ADE-C22C-8DCC-085CF6C2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  <p:sp>
        <p:nvSpPr>
          <p:cNvPr id="6" name="Marcador de texto 9">
            <a:extLst>
              <a:ext uri="{FF2B5EF4-FFF2-40B4-BE49-F238E27FC236}">
                <a16:creationId xmlns:a16="http://schemas.microsoft.com/office/drawing/2014/main" id="{794F2584-CC08-A1BA-7F97-7DEE18A43778}"/>
              </a:ext>
            </a:extLst>
          </p:cNvPr>
          <p:cNvSpPr txBox="1">
            <a:spLocks/>
          </p:cNvSpPr>
          <p:nvPr/>
        </p:nvSpPr>
        <p:spPr>
          <a:xfrm>
            <a:off x="0" y="4114625"/>
            <a:ext cx="4902200" cy="1100565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txBody>
          <a:bodyPr vert="horz" lIns="252000" tIns="180000" rIns="180000" bIns="18000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266700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5429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096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076325" indent="0" algn="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ndara"/>
                <a:ea typeface="+mn-ea"/>
                <a:cs typeface="+mn-cs"/>
              </a:rPr>
              <a:t>Subtítulo: Dibujo del diagramaa 0 (nivel siguiente al contexto)</a:t>
            </a:r>
            <a:endParaRPr kumimoji="0" lang="es-E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2582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57AFA-2746-2D9A-7690-1C6FE25ED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49CDF-E5C0-5183-AF65-90D1F372D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226376"/>
            <a:ext cx="11340000" cy="432000"/>
          </a:xfrm>
        </p:spPr>
        <p:txBody>
          <a:bodyPr rtlCol="0"/>
          <a:lstStyle/>
          <a:p>
            <a:pPr rtl="0"/>
            <a:r>
              <a:rPr lang="es-ES" dirty="0"/>
              <a:t>Desarrollo</a:t>
            </a:r>
          </a:p>
        </p:txBody>
      </p:sp>
      <p:sp>
        <p:nvSpPr>
          <p:cNvPr id="12" name="Rectángulo 11" descr="Bloque de énfasis izquierdo">
            <a:extLst>
              <a:ext uri="{FF2B5EF4-FFF2-40B4-BE49-F238E27FC236}">
                <a16:creationId xmlns:a16="http://schemas.microsoft.com/office/drawing/2014/main" id="{5ED59B41-31A0-48AE-3F96-89762F3DBD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800" y="995578"/>
            <a:ext cx="1984175" cy="1148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6AF901F-7094-B9C7-476A-0195D4AFD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403" y="1143509"/>
            <a:ext cx="5472000" cy="360000"/>
          </a:xfrm>
        </p:spPr>
        <p:txBody>
          <a:bodyPr rtlCol="0"/>
          <a:lstStyle/>
          <a:p>
            <a:r>
              <a:rPr lang="es-MX" sz="1800" dirty="0"/>
              <a:t>Convenciones de diagramas hijos</a:t>
            </a:r>
            <a:endParaRPr lang="es-NI" sz="1800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0043F33-6FDB-0BFE-2F93-BEA84745A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403" y="1576683"/>
            <a:ext cx="5010150" cy="4137808"/>
          </a:xfrm>
        </p:spPr>
        <p:txBody>
          <a:bodyPr rtlCol="0"/>
          <a:lstStyle/>
          <a:p>
            <a:pPr rtl="0"/>
            <a:r>
              <a:rPr lang="es-MX" dirty="0"/>
              <a:t>El hijo recibe el mismo número que su padre (ej. proceso 3 → diagrama 3).</a:t>
            </a:r>
          </a:p>
          <a:p>
            <a:pPr rtl="0"/>
            <a:r>
              <a:rPr lang="es-MX" dirty="0"/>
              <a:t>Los procesos hijos se numeran con decimales (3.1, 3.2, 3.3…).</a:t>
            </a:r>
          </a:p>
          <a:p>
            <a:pPr rtl="0"/>
            <a:r>
              <a:rPr lang="es-MX" dirty="0"/>
              <a:t>Entidades externas no suelen mostrarse en niveles inferiores.</a:t>
            </a:r>
          </a:p>
          <a:p>
            <a:pPr rtl="0"/>
            <a:r>
              <a:rPr lang="es-MX" dirty="0"/>
              <a:t>Se permiten flujos de interfaz (entradas/salidas heredadas del padre).</a:t>
            </a:r>
          </a:p>
          <a:p>
            <a:pPr rtl="0"/>
            <a:r>
              <a:rPr lang="es-MX" dirty="0"/>
              <a:t>Se pueden incluir nuevos almacenes de datos (ej. tablas auxiliares).</a:t>
            </a:r>
          </a:p>
          <a:p>
            <a:pPr rtl="0"/>
            <a:r>
              <a:rPr lang="es-MX" dirty="0"/>
              <a:t>Procesos no expandidos se llaman primitivos y requieren lógica escrita.</a:t>
            </a:r>
            <a:endParaRPr lang="es-ES" dirty="0"/>
          </a:p>
        </p:txBody>
      </p:sp>
      <p:cxnSp>
        <p:nvCxnSpPr>
          <p:cNvPr id="11" name="Conector recto 10" descr="Línea divisoria de la diapositiva">
            <a:extLst>
              <a:ext uri="{FF2B5EF4-FFF2-40B4-BE49-F238E27FC236}">
                <a16:creationId xmlns:a16="http://schemas.microsoft.com/office/drawing/2014/main" id="{7AA9368B-47C2-20F2-08D1-D8D847E54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6096000" y="2363035"/>
            <a:ext cx="0" cy="241133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ángulo 12" descr="Barra de énfasis derecha&#10;">
            <a:extLst>
              <a:ext uri="{FF2B5EF4-FFF2-40B4-BE49-F238E27FC236}">
                <a16:creationId xmlns:a16="http://schemas.microsoft.com/office/drawing/2014/main" id="{9CB4D508-E5F2-B52E-4216-ADF0C739A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0" y="995578"/>
            <a:ext cx="1984175" cy="11482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ndara"/>
              <a:ea typeface="+mn-ea"/>
              <a:cs typeface="+mn-cs"/>
            </a:endParaRP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27EBDE9F-BA7F-193E-7F77-68F1FC5180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0" y="1144121"/>
            <a:ext cx="5472000" cy="358775"/>
          </a:xfrm>
        </p:spPr>
        <p:txBody>
          <a:bodyPr rtlCol="0"/>
          <a:lstStyle/>
          <a:p>
            <a:pPr rtl="0"/>
            <a:r>
              <a:rPr lang="es-ES" sz="2000" dirty="0"/>
              <a:t>Errores comunes en DFD </a:t>
            </a:r>
          </a:p>
        </p:txBody>
      </p:sp>
      <p:sp>
        <p:nvSpPr>
          <p:cNvPr id="7" name="Marcador de texto 6">
            <a:extLst>
              <a:ext uri="{FF2B5EF4-FFF2-40B4-BE49-F238E27FC236}">
                <a16:creationId xmlns:a16="http://schemas.microsoft.com/office/drawing/2014/main" id="{7A4DDBEA-1DE0-033B-0F1E-1B6E82E46B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5887" y="1502896"/>
            <a:ext cx="5472113" cy="3569117"/>
          </a:xfrm>
        </p:spPr>
        <p:txBody>
          <a:bodyPr rtlCol="0"/>
          <a:lstStyle/>
          <a:p>
            <a:pPr rtl="0"/>
            <a:r>
              <a:rPr lang="es-MX" dirty="0"/>
              <a:t>Omitir flujos de datos o flechas mal orientadas.</a:t>
            </a:r>
          </a:p>
          <a:p>
            <a:pPr rtl="0"/>
            <a:r>
              <a:rPr lang="es-MX" dirty="0"/>
              <a:t>Conectar directamente almacenes con entidades externas (deben pasar por un proceso).</a:t>
            </a:r>
          </a:p>
          <a:p>
            <a:pPr rtl="0"/>
            <a:r>
              <a:rPr lang="es-MX" dirty="0"/>
              <a:t>Etiquetar incorrectamente procesos o flujos (usar sustantivos y verbo-sustantivo-adjetivo).</a:t>
            </a:r>
          </a:p>
          <a:p>
            <a:pPr rtl="0"/>
            <a:r>
              <a:rPr lang="es-MX" dirty="0"/>
              <a:t>Incluir más de 9 procesos en un diagrama (se recomienda agrupar en subsistemas).</a:t>
            </a:r>
          </a:p>
          <a:p>
            <a:pPr rtl="0"/>
            <a:r>
              <a:rPr lang="es-MX" dirty="0"/>
              <a:t>Omitir flujos necesarios (ej. cálculos incompletos en nómina).</a:t>
            </a:r>
          </a:p>
          <a:p>
            <a:pPr rtl="0"/>
            <a:r>
              <a:rPr lang="es-MX" dirty="0"/>
              <a:t>Crear diagramas hijos desbalanceados (entradas/salidas no coinciden con el padre).</a:t>
            </a:r>
            <a:endParaRPr lang="es-ES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E8B025D3-9532-3B39-30B6-A307FC7F69A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11760000" y="6371351"/>
            <a:ext cx="432000" cy="432000"/>
          </a:xfrm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7175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151C0-9A46-2D34-8942-F8BB931E7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Marcador de posición de imagen 10" descr="Escritorio con un ordenador, un teléfono, libros, etc.">
            <a:extLst>
              <a:ext uri="{FF2B5EF4-FFF2-40B4-BE49-F238E27FC236}">
                <a16:creationId xmlns:a16="http://schemas.microsoft.com/office/drawing/2014/main" id="{0C536D43-C7DB-C9A3-7875-2611BD4F106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64873955-85AB-3CEA-B253-E5BB6066F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5700" y="2204792"/>
            <a:ext cx="5956300" cy="1100565"/>
          </a:xfrm>
        </p:spPr>
        <p:txBody>
          <a:bodyPr rtlCol="0"/>
          <a:lstStyle/>
          <a:p>
            <a:pPr algn="ctr"/>
            <a:r>
              <a:rPr lang="es-NI" sz="5400" dirty="0"/>
              <a:t>Conclusión</a:t>
            </a:r>
            <a:endParaRPr lang="es-ES" sz="5200" dirty="0"/>
          </a:p>
        </p:txBody>
      </p:sp>
      <p:sp>
        <p:nvSpPr>
          <p:cNvPr id="14" name="Marcador de texto 13">
            <a:extLst>
              <a:ext uri="{FF2B5EF4-FFF2-40B4-BE49-F238E27FC236}">
                <a16:creationId xmlns:a16="http://schemas.microsoft.com/office/drawing/2014/main" id="{9A01F893-66EC-2903-BEBB-D416C5327A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5700" y="3305357"/>
            <a:ext cx="5956300" cy="2597731"/>
          </a:xfrm>
        </p:spPr>
        <p:txBody>
          <a:bodyPr rtlCol="0"/>
          <a:lstStyle/>
          <a:p>
            <a:pPr algn="l" rtl="0"/>
            <a:r>
              <a:rPr lang="es-MX" dirty="0"/>
              <a:t>Los diagramas hijos permiten detallar procesos complejos sin perder coherencia con el nivel superior.</a:t>
            </a:r>
          </a:p>
          <a:p>
            <a:pPr algn="l" rtl="0"/>
            <a:r>
              <a:rPr lang="es-MX" dirty="0"/>
              <a:t>El balanceo vertical asegura consistencia entre padre e hijo.</a:t>
            </a:r>
          </a:p>
          <a:p>
            <a:pPr algn="l" rtl="0"/>
            <a:r>
              <a:rPr lang="es-MX" dirty="0"/>
              <a:t>Evitar errores comunes es esencial para mantener la claridad y utilidad del modelo.</a:t>
            </a:r>
          </a:p>
          <a:p>
            <a:pPr algn="l" rtl="0"/>
            <a:r>
              <a:rPr lang="es-MX" dirty="0"/>
              <a:t>Una buena práctica es validar continuamente los diagramas con usuarios y documentación.</a:t>
            </a:r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258BBCC-4746-5FF1-1134-0B6C6D0C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B51A1E-902D-48AF-9020-955120F399B6}" type="slidenum">
              <a:rPr kumimoji="0" lang="es-ES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E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6025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Marcador de posición de imagen 31" descr="manos aplaudiendo">
            <a:extLst>
              <a:ext uri="{FF2B5EF4-FFF2-40B4-BE49-F238E27FC236}">
                <a16:creationId xmlns:a16="http://schemas.microsoft.com/office/drawing/2014/main" id="{AAB6EE12-FEF8-FB41-A909-0DA61D7725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Título 13">
            <a:extLst>
              <a:ext uri="{FF2B5EF4-FFF2-40B4-BE49-F238E27FC236}">
                <a16:creationId xmlns:a16="http://schemas.microsoft.com/office/drawing/2014/main" id="{6C38D7A9-9299-4108-BB08-026F4B9CAE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s-ES" sz="5200" dirty="0"/>
              <a:t>Gracias por su atención.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91814EC9-246A-4C6E-941E-5774FE72F0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 rtlCol="0"/>
          <a:lstStyle/>
          <a:p>
            <a:pPr rtl="0"/>
            <a:fld id="{19B51A1E-902D-48AF-9020-955120F399B6}" type="slidenum">
              <a:rPr lang="es-ES" smtClean="0"/>
              <a:pPr rtl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29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25C6E3"/>
      </a:accent1>
      <a:accent2>
        <a:srgbClr val="E80554"/>
      </a:accent2>
      <a:accent3>
        <a:srgbClr val="A9E26F"/>
      </a:accent3>
      <a:accent4>
        <a:srgbClr val="EAD000"/>
      </a:accent4>
      <a:accent5>
        <a:srgbClr val="1A0F49"/>
      </a:accent5>
      <a:accent6>
        <a:srgbClr val="FF4A01"/>
      </a:accent6>
      <a:hlink>
        <a:srgbClr val="25C6E3"/>
      </a:hlink>
      <a:folHlink>
        <a:srgbClr val="25C6E3"/>
      </a:folHlink>
    </a:clrScheme>
    <a:fontScheme name="Custom 149">
      <a:majorFont>
        <a:latin typeface="Corbel"/>
        <a:ea typeface=""/>
        <a:cs typeface=""/>
      </a:majorFont>
      <a:minorFont>
        <a:latin typeface="Canda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_19716750_TF16411250.potx" id="{675E8371-EC70-4345-8B64-A71003B56298}" vid="{0F92AA19-00D6-4C71-B13F-219D7994A0B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3618a58-e77e-4815-be7a-4b457870ef6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9EE9C2000E3C49BAAF240643ED3F80" ma:contentTypeVersion="15" ma:contentTypeDescription="Create a new document." ma:contentTypeScope="" ma:versionID="eaba0ea6fb42edefb9401bfff6c3d42d">
  <xsd:schema xmlns:xsd="http://www.w3.org/2001/XMLSchema" xmlns:xs="http://www.w3.org/2001/XMLSchema" xmlns:p="http://schemas.microsoft.com/office/2006/metadata/properties" xmlns:ns3="53618a58-e77e-4815-be7a-4b457870ef69" xmlns:ns4="02248b9c-6807-4a99-bae8-63a1ce543b00" targetNamespace="http://schemas.microsoft.com/office/2006/metadata/properties" ma:root="true" ma:fieldsID="e402d70e2803f3a35f7e91e50dd7f968" ns3:_="" ns4:_="">
    <xsd:import namespace="53618a58-e77e-4815-be7a-4b457870ef69"/>
    <xsd:import namespace="02248b9c-6807-4a99-bae8-63a1ce543b0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618a58-e77e-4815-be7a-4b457870ef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248b9c-6807-4a99-bae8-63a1ce543b0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2218FC-8412-44B9-9E82-D51F1F531141}">
  <ds:schemaRefs>
    <ds:schemaRef ds:uri="http://purl.org/dc/dcmitype/"/>
    <ds:schemaRef ds:uri="http://www.w3.org/XML/1998/namespace"/>
    <ds:schemaRef ds:uri="02248b9c-6807-4a99-bae8-63a1ce543b00"/>
    <ds:schemaRef ds:uri="http://schemas.microsoft.com/office/2006/metadata/properties"/>
    <ds:schemaRef ds:uri="http://schemas.microsoft.com/office/2006/documentManagement/types"/>
    <ds:schemaRef ds:uri="53618a58-e77e-4815-be7a-4b457870ef69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73EEA25-5B00-4589-AF59-212EACADCF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3618a58-e77e-4815-be7a-4b457870ef69"/>
    <ds:schemaRef ds:uri="02248b9c-6807-4a99-bae8-63a1ce543b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4DC8446-6099-4707-8472-043351D729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{54BBAAFF-20CE-42D8-9A55-CF6BEE46A20D}TF992e0334-4647-4579-8d14-183019b0908cc11ea5a0_win32-8afc8497b335</Template>
  <TotalTime>153</TotalTime>
  <Words>1414</Words>
  <Application>Microsoft Office PowerPoint</Application>
  <PresentationFormat>Panorámica</PresentationFormat>
  <Paragraphs>176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3" baseType="lpstr">
      <vt:lpstr>Arial</vt:lpstr>
      <vt:lpstr>Calibri</vt:lpstr>
      <vt:lpstr>Candara</vt:lpstr>
      <vt:lpstr>Corbel</vt:lpstr>
      <vt:lpstr>Times New Roman</vt:lpstr>
      <vt:lpstr>Personalizado</vt:lpstr>
      <vt:lpstr>Análisis estructurado</vt:lpstr>
      <vt:lpstr>Título: Resumen de la página 258</vt:lpstr>
      <vt:lpstr>Desarrollo</vt:lpstr>
      <vt:lpstr>Conclusión</vt:lpstr>
      <vt:lpstr>Título: Resumen de la página 259</vt:lpstr>
      <vt:lpstr>Desarrollo</vt:lpstr>
      <vt:lpstr>Conclusión</vt:lpstr>
      <vt:lpstr>Título: Resumen de la página 260</vt:lpstr>
      <vt:lpstr>Desarrollo</vt:lpstr>
      <vt:lpstr>Conclusión</vt:lpstr>
      <vt:lpstr>Título: Resumen de la página 261</vt:lpstr>
      <vt:lpstr>Desarrollo</vt:lpstr>
      <vt:lpstr>Conclusión</vt:lpstr>
      <vt:lpstr>Título: Resumen de la página 262</vt:lpstr>
      <vt:lpstr>Desarrollo</vt:lpstr>
      <vt:lpstr>Conclusión</vt:lpstr>
      <vt:lpstr>Gracias por su atención.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Moriel Solis</dc:creator>
  <cp:lastModifiedBy>BRENDA QUINTANA</cp:lastModifiedBy>
  <cp:revision>3</cp:revision>
  <dcterms:created xsi:type="dcterms:W3CDTF">2025-11-05T16:20:06Z</dcterms:created>
  <dcterms:modified xsi:type="dcterms:W3CDTF">2025-11-11T19:37:54Z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0x010100C69EE9C2000E3C49BAAF240643ED3F80</vt:lpwstr>
  </property>
</Properties>
</file>